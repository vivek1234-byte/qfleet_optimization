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417320" y="-526757"/>
            <a:ext cx="7863840" cy="2076450"/>
          </a:xfrm>
        </p:spPr>
        <p:txBody>
          <a:bodyPr/>
          <a:lstStyle/>
          <a:p>
            <a:r>
              <a:rPr lang="en-US" sz="3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g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870448"/>
            <a:ext cx="771861" cy="7498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2121408"/>
            <a:ext cx="6035040" cy="22860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Problem Statement ID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SIH26138</a:t>
            </a:r>
          </a:p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Problem Statement Title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Quantum-inspired fuel consumption prediction and green fleet optimization</a:t>
            </a:r>
          </a:p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Theme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Smart Vehicle</a:t>
            </a:r>
          </a:p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PS Category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Software</a:t>
            </a:r>
          </a:p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Team ID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S16</a:t>
            </a:r>
          </a:p>
          <a:p>
            <a:pPr algn="l" marL="146304" indent="-146304">
              <a:lnSpc>
                <a:spcPct val="102000"/>
              </a:lnSpc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sz="1250" b="1" i="0">
                <a:solidFill>
                  <a:srgbClr val="44546A"/>
                </a:solidFill>
                <a:latin typeface="Calibri"/>
              </a:rPr>
              <a:t>Team Name – </a:t>
            </a:r>
            <a:r>
              <a:rPr sz="1250" b="0" i="0">
                <a:solidFill>
                  <a:srgbClr val="3F3F3F"/>
                </a:solidFill>
                <a:latin typeface="Calibri"/>
              </a:rPr>
              <a:t>CloudBusters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617720"/>
            <a:ext cx="60350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TEAM MEMBERS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956048"/>
            <a:ext cx="2788920" cy="1463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Vivek Prasad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2415001815</a:t>
            </a:r>
          </a:p>
          <a:p>
            <a:pPr algn="l"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Ankit Pandey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2415000234</a:t>
            </a:r>
          </a:p>
          <a:p>
            <a:pPr algn="l"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Krishna Khandelwal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2415000841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4956048"/>
            <a:ext cx="2788920" cy="1463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Anshika Singh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2415000265</a:t>
            </a:r>
          </a:p>
          <a:p>
            <a:pPr algn="l"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Aniket Singh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2415000216</a:t>
            </a:r>
          </a:p>
          <a:p>
            <a:pPr algn="l"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Devanshi Chauhan 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2415000511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91440"/>
            <a:ext cx="10972800" cy="868680"/>
          </a:xfrm>
        </p:spPr>
        <p:txBody>
          <a:bodyPr anchor="ctr"/>
          <a:lstStyle/>
          <a:p>
            <a:pPr eaLnBrk="1" hangingPunct="1"/>
            <a:r>
              <a:rPr b="1" sz="3000"/>
              <a:t>QFLEET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44546A"/>
                </a:solidFill>
              </a:rPr>
              <a:t>CloudBusters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66928" y="118872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5A6B82"/>
                </a:solidFill>
                <a:latin typeface="Calibri"/>
              </a:rPr>
              <a:t>❖ </a:t>
            </a:r>
            <a:r>
              <a:rPr sz="1450" b="1" i="0">
                <a:solidFill>
                  <a:srgbClr val="1F3C66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566928" y="1737360"/>
            <a:ext cx="5257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DETAILED EXPLANATION — ONE OPTIMIZATION LOOP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66928" y="2029968"/>
            <a:ext cx="5257800" cy="22860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1. ASSIGN —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QIEA assigns vessels, routes and fuels — the discrete decisions.</a:t>
            </a:r>
          </a:p>
          <a:p>
            <a:pPr algn="l" marL="0" indent="0">
              <a:lnSpc>
                <a:spcPct val="103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2. TUNE —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QPSO tunes sailing speed (continuous) in the same loop.</a:t>
            </a:r>
          </a:p>
          <a:p>
            <a:pPr algn="l" marL="0" indent="0">
              <a:lnSpc>
                <a:spcPct val="103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3. EVOLVE —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Q-NSGA-II evolves a full Pareto front across cost, well-to-wake GHG and schedule reliability.</a:t>
            </a:r>
          </a:p>
          <a:p>
            <a:pPr algn="l" marL="0" indent="0">
              <a:lnSpc>
                <a:spcPct val="103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4. COMPLY — </a:t>
            </a:r>
            <a:r>
              <a:rPr sz="1050" b="0" i="0">
                <a:solidFill>
                  <a:srgbClr val="3F3F3F"/>
                </a:solidFill>
                <a:latin typeface="Calibri"/>
              </a:rPr>
              <a:t>Every Pareto point ships with its CII rating, EEXI pass/fail and FuelEU gap computed.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66928" y="4315968"/>
            <a:ext cx="5257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GROUNDED IN REAL PHYSICS — NOT A BLACK BOX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66928" y="4599431"/>
            <a:ext cx="5257800" cy="1371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Admiralty V³ law and resistance modelling — hull fouling, draft and sea state.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Full tank-to-wake → well-to-wake accounting for every candidate solution.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355080" y="1737360"/>
            <a:ext cx="5257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355080" y="2020824"/>
            <a:ext cx="5257800" cy="17373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Cost, GHG and schedule reliability are optimized jointly, not traded off ad hoc.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Operators pick a point on the Pareto front instead of accepting one fixed answer.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Compliance (CII / EEXI / FuelEU) is computed inside the loop, not bolted on after.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355080" y="4041648"/>
            <a:ext cx="5257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INNOVATION AND UNIQUENESS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355080" y="4325112"/>
            <a:ext cx="52578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MILP cannot represent the non-convex V³ speed–fuel curve; QFleet can.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ML baselines only forecast — QFleet decides speed, fuel and deployment.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Single-objective GA / PSO bolt emissions on afterwards — QFleet is Pareto-native.</a:t>
            </a:r>
          </a:p>
          <a:p>
            <a:pPr algn="l" marL="146304" indent="-146304">
              <a:lnSpc>
                <a:spcPct val="105000"/>
              </a:lnSpc>
              <a:spcBef>
                <a:spcPts val="350"/>
              </a:spcBef>
              <a:spcAft>
                <a:spcPts val="350"/>
              </a:spcAft>
              <a:buFont typeface="Arial"/>
              <a:buChar char="•"/>
            </a:pPr>
            <a:r>
              <a:rPr sz="1050" b="0" i="0">
                <a:solidFill>
                  <a:srgbClr val="3F3F3F"/>
                </a:solidFill>
                <a:latin typeface="Calibri"/>
              </a:rPr>
              <a:t>QUBO formulation is hardware-ready: a real annealer is a backend swap.</a:t>
            </a:r>
          </a:p>
        </p:txBody>
      </p:sp>
      <p:pic>
        <p:nvPicPr>
          <p:cNvPr id="15371" name="Picture 15370" descr="k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788920"/>
            <a:ext cx="5257800" cy="895687"/>
          </a:xfrm>
          <a:prstGeom prst="rect">
            <a:avLst/>
          </a:prstGeom>
        </p:spPr>
      </p:pic>
      <p:sp>
        <p:nvSpPr>
          <p:cNvPr id="15372" name="TextBox 15371"/>
          <p:cNvSpPr txBox="1"/>
          <p:nvPr/>
        </p:nvSpPr>
        <p:spPr>
          <a:xfrm>
            <a:off x="6355080" y="3730752"/>
            <a:ext cx="5257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595959"/>
                </a:solidFill>
                <a:latin typeface="Calibri"/>
              </a:rPr>
              <a:t>Prototype output — fuel, CO₂e and cost against the greedy baseline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31520" y="6382512"/>
            <a:ext cx="106984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FFFFFF"/>
                </a:solidFill>
                <a:latin typeface="Calibri"/>
              </a:rPr>
              <a:t>One loop — assign, tune, evolve, comply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44546A"/>
                </a:solidFill>
              </a:rPr>
              <a:t>CloudBusters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207008"/>
            <a:ext cx="11064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155448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Optimization Core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788920" y="155448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pymoo · pyqubo · dwave-neal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623560" y="155448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Hardware-ready QUBO; simulated annealing keeps demo runtime deterministic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66928" y="205740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Quantum-Inspired ML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788920" y="205740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PennyLane · Qiskit-Aer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623560" y="205740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Small statevector circuits (≤10 qubits) as feature maps — fast to simulate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66928" y="256032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Classical ML Baseline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788920" y="256032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XGBoost · LightGBM · SHAP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623560" y="256032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The benchmark QFleet must beat, with SHAP plots for interpretability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66928" y="306324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Data Pipeline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788920" y="306324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Polars · GeoPandas · Xarray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623560" y="306324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AIS + Copernicus weather at scale, stored in Parquet — not CSV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356616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Backend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788920" y="356616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FastAPI · Celery · Redis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623560" y="356616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Optimization runs (2–5 min) go to an async job queue, never a blocking request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66928" y="4069080"/>
            <a:ext cx="21488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44546A"/>
                </a:solidFill>
                <a:latin typeface="Calibri"/>
              </a:rPr>
              <a:t>Reporting &amp; Infra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788920" y="4069080"/>
            <a:ext cx="2697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77C1"/>
                </a:solidFill>
                <a:latin typeface="Calibri"/>
              </a:rPr>
              <a:t>WeasyPrint · Docker Compose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623560" y="4069080"/>
            <a:ext cx="59893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3F3F"/>
                </a:solidFill>
                <a:latin typeface="Calibri"/>
              </a:rPr>
              <a:t>Auto-generated CII / EEXI / FuelEU compliance PDFs; one command boots the stack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66928" y="4663440"/>
            <a:ext cx="11064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66928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AIS + weather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data pipeline</a:t>
            </a:r>
          </a:p>
        </p:txBody>
      </p:sp>
      <p:sp>
        <p:nvSpPr>
          <p:cNvPr id="17431" name="Right Arrow 17430"/>
          <p:cNvSpPr/>
          <p:nvPr/>
        </p:nvSpPr>
        <p:spPr>
          <a:xfrm>
            <a:off x="2284780" y="5349240"/>
            <a:ext cx="142646" cy="109728"/>
          </a:xfrm>
          <a:prstGeom prst="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2438400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Physics model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V³ · resistance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4156252" y="5349240"/>
            <a:ext cx="142646" cy="109728"/>
          </a:xfrm>
          <a:prstGeom prst="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4309872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QIEA assign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vessel · route · fuel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6027724" y="5349240"/>
            <a:ext cx="142646" cy="109728"/>
          </a:xfrm>
          <a:prstGeom prst="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6181344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QPSO tune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sailing speed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7899196" y="5349240"/>
            <a:ext cx="142646" cy="109728"/>
          </a:xfrm>
          <a:prstGeom prst="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8052816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Q-NSGA-II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Pareto front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9770668" y="5349240"/>
            <a:ext cx="142646" cy="109728"/>
          </a:xfrm>
          <a:prstGeom prst="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9924288" y="4983480"/>
            <a:ext cx="1706880" cy="84124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 w="9525">
            <a:solidFill>
              <a:srgbClr val="CB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44546A"/>
                </a:solidFill>
                <a:latin typeface="Calibri"/>
              </a:rPr>
              <a:t>CII / EEXI / FuelEU</a:t>
            </a:r>
          </a:p>
          <a:p>
            <a:pPr algn="ctr"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>
                <a:solidFill>
                  <a:srgbClr val="3F3F3F"/>
                </a:solidFill>
                <a:latin typeface="Calibri"/>
              </a:rPr>
              <a:t>compliance report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31520" y="6382512"/>
            <a:ext cx="106984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FFFFFF"/>
                </a:solidFill>
                <a:latin typeface="Calibri"/>
              </a:rPr>
              <a:t>Runs entirely on a laptop — quantum-ready, classically executed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44546A"/>
                </a:solidFill>
              </a:rPr>
              <a:t>CloudBusters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Contract-first architecture — one shared schema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Async job queue absorbs 2–5 min runs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Runs entirely on a laptop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Deterministic, reproducible demo runs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Physics-calibrated data vs MRV aggregates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1596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31596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Classical annealing only — no real annealer yet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LNG + methanol prioritised over hydrogen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Fewer benchmark seeds than a full study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Synthetic data unvalidated at fleet scale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Multi-objective runtime grows with fleet size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06500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STRATEGIES TO OVERCOME THEM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6500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QUBO is a backend swap — annealers plug in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Pre-compute demos; optimize small sets live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Extend fuels to hydrogen and ammonia next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Live AIS + weather for continuous re-runs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Multi-seed benchmarks with error bars</a:t>
            </a:r>
          </a:p>
        </p:txBody>
      </p:sp>
      <p:pic>
        <p:nvPicPr>
          <p:cNvPr id="17416" name="Picture 17415" descr="con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3950208"/>
            <a:ext cx="4572000" cy="2073584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2441448" y="6062472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595959"/>
                </a:solidFill>
                <a:latin typeface="Calibri"/>
              </a:rPr>
              <a:t>Solver convergence on one problem instance — measured in the working prototype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31520" y="6382512"/>
            <a:ext cx="106984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FFFFFF"/>
                </a:solidFill>
                <a:latin typeface="Calibri"/>
              </a:rPr>
              <a:t>Start small, validate, then expand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44546A"/>
                </a:solidFill>
              </a:rPr>
              <a:t>CloudBusters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IMPACT ON THE TARGET AUDIENCE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Operators — lower fuel cost per voyage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Compliance teams — CII / EEXI evidence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Charterers — cleaner, priced-in voyages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Port planners — reliable, lower-emission calls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Regulators — auditable decisions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1596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31596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Well-to-wake accounting incl. CH₄ and N₂O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Multi-fuel: VLSFO / MGO / LNG / methanol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Avoids EU ETS and FuelEU penalty exposure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Cleaner coastal air near ECAs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Transparent, audit-ready recommendations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06500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HOW WE MEASURE IMPACT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65008" y="1517904"/>
            <a:ext cx="3429000" cy="2011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Fuel cost per voyage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Well-to-wake CO₂e per route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CII rating spread across the fleet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Schedule reliability (%)</a:t>
            </a:r>
          </a:p>
          <a:p>
            <a:pPr algn="l" marL="146304" indent="-146304">
              <a:lnSpc>
                <a:spcPct val="105000"/>
              </a:lnSpc>
              <a:spcBef>
                <a:spcPts val="1300"/>
              </a:spcBef>
              <a:spcAft>
                <a:spcPts val="1300"/>
              </a:spcAft>
              <a:buFont typeface="Arial"/>
              <a:buChar char="•"/>
            </a:pPr>
            <a:r>
              <a:rPr sz="1150" b="0" i="0">
                <a:solidFill>
                  <a:srgbClr val="3F3F3F"/>
                </a:solidFill>
                <a:latin typeface="Calibri"/>
              </a:rPr>
              <a:t>EU ETS + FuelEU penalty exposure</a:t>
            </a:r>
          </a:p>
        </p:txBody>
      </p:sp>
      <p:pic>
        <p:nvPicPr>
          <p:cNvPr id="17416" name="Picture 17415" descr="sav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3950208"/>
            <a:ext cx="4572000" cy="2134274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2441448" y="6062472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595959"/>
                </a:solidFill>
                <a:latin typeface="Calibri"/>
              </a:rPr>
              <a:t>Savings against the greedy baseline, per objective — from a prototype run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31520" y="6382512"/>
            <a:ext cx="106984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FFFFFF"/>
                </a:solidFill>
                <a:latin typeface="Calibri"/>
              </a:rPr>
              <a:t>Cost, emissions and schedule reliability — optimized together, measured honestly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44546A"/>
                </a:solidFill>
              </a:rPr>
              <a:t>CloudBusters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REGULATION AND STANDARDS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1517904"/>
            <a:ext cx="3429000" cy="3200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IMO MEPC — Carbon Intensity Indicator (CII) rating framework.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IMO — Energy Efficiency Existing Ship Index (EEXI).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EU FuelEU Maritime — GHG intensity limits for marine fuels.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EU Emissions Trading System (ETS) extension to shipping.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MARPOL Annex VI — sulphur and emission control areas.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1596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ALGORITHMS AND METHODS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315968" y="1517904"/>
            <a:ext cx="3429000" cy="3200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Sun, Feng &amp; Xu (2004) — quantum-behaved particle swarm optimization (QPSO).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Han &amp; Kim (2002) — quantum-inspired evolutionary algorithm (QIEA).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Deb et al. (2002) — NSGA-II, IEEE Trans. Evolutionary Computation.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Admiralty coefficient / V³ speed–power law for propulsion resistance.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QUBO formulation for quantum annealing.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065008" y="1234440"/>
            <a:ext cx="3429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120">
                <a:solidFill>
                  <a:srgbClr val="44546A"/>
                </a:solidFill>
                <a:latin typeface="Calibri"/>
              </a:rPr>
              <a:t>DATA AND TOOLING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65008" y="1517904"/>
            <a:ext cx="3429000" cy="3200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 marL="146304" indent="-146304">
              <a:lnSpc>
                <a:spcPct val="105000"/>
              </a:lnSpc>
              <a:spcBef>
                <a:spcPts val="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AIS vessel movement data for routes and speed profiles.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Copernicus Marine / ERA5 weather and sea-state reanalysis.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IMO MRV and EU THETIS-MRV aggregate emissions reporting.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pymoo, pyqubo, dwave-neal — optimization and annealing libraries.</a:t>
            </a:r>
          </a:p>
          <a:p>
            <a:pPr algn="l" marL="146304" indent="-146304">
              <a:lnSpc>
                <a:spcPct val="105000"/>
              </a:lnSpc>
              <a:spcBef>
                <a:spcPts val="1900"/>
              </a:spcBef>
              <a:spcAft>
                <a:spcPts val="1900"/>
              </a:spcAft>
              <a:buFont typeface="Arial"/>
              <a:buChar char="•"/>
            </a:pPr>
            <a:r>
              <a:rPr sz="1200" b="0" i="0">
                <a:solidFill>
                  <a:srgbClr val="3F3F3F"/>
                </a:solidFill>
                <a:latin typeface="Calibri"/>
              </a:rPr>
              <a:t>PennyLane, Qiskit-Aer — quantum circuit simulation.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31520" y="6382512"/>
            <a:ext cx="106984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FFFFFF"/>
                </a:solidFill>
                <a:latin typeface="Calibri"/>
              </a:rPr>
              <a:t>Grounded in published regulation, peer-reviewed algorithms and open data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