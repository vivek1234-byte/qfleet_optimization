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r>
              <a:rPr b="1" sz="3400">
                <a:solidFill>
                  <a:srgbClr val="0B2545"/>
                </a:solidFill>
              </a:rPr>
              <a:t>QUANTUM GREEN FLEET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457200" y="1847088"/>
            <a:ext cx="6035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0C7C8A"/>
                </a:solidFill>
                <a:latin typeface="Calibri"/>
              </a:rPr>
              <a:t>Quantum-inspired optimisation for maritime fuel, cost and emissions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2304288"/>
            <a:ext cx="5943600" cy="2212848"/>
          </a:xfrm>
          <a:prstGeom prst="roundRect">
            <a:avLst>
              <a:gd name="adj" fmla="val 4000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658368" y="2432304"/>
            <a:ext cx="5577840" cy="19751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sz="1150" b="1">
                <a:solidFill>
                  <a:srgbClr val="0B2545"/>
                </a:solidFill>
                <a:latin typeface="Calibri"/>
              </a:rPr>
              <a:t>Problem Statement ID   </a:t>
            </a:r>
            <a:r>
              <a:rPr sz="1150" b="0">
                <a:solidFill>
                  <a:srgbClr val="C00000"/>
                </a:solidFill>
                <a:latin typeface="Calibri"/>
              </a:rPr>
              <a:t>[Fill from SIH portal]</a:t>
            </a:r>
          </a:p>
          <a:p>
            <a:pPr algn="l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sz="1150" b="1">
                <a:solidFill>
                  <a:srgbClr val="0B2545"/>
                </a:solidFill>
                <a:latin typeface="Calibri"/>
              </a:rPr>
              <a:t>Problem Statement Title   </a:t>
            </a:r>
            <a:r>
              <a:rPr sz="1150" b="0">
                <a:solidFill>
                  <a:srgbClr val="C00000"/>
                </a:solidFill>
                <a:latin typeface="Calibri"/>
              </a:rPr>
              <a:t>[Fill from SIH portal]</a:t>
            </a:r>
          </a:p>
          <a:p>
            <a:pPr algn="l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sz="1150" b="1">
                <a:solidFill>
                  <a:srgbClr val="0B2545"/>
                </a:solidFill>
                <a:latin typeface="Calibri"/>
              </a:rPr>
              <a:t>Theme   </a:t>
            </a:r>
            <a:r>
              <a:rPr sz="1150" b="0">
                <a:solidFill>
                  <a:srgbClr val="1E2833"/>
                </a:solidFill>
                <a:latin typeface="Calibri"/>
              </a:rPr>
              <a:t>Clean &amp; Green Technology  [confirm on portal]</a:t>
            </a:r>
          </a:p>
          <a:p>
            <a:pPr algn="l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sz="1150" b="1">
                <a:solidFill>
                  <a:srgbClr val="0B2545"/>
                </a:solidFill>
                <a:latin typeface="Calibri"/>
              </a:rPr>
              <a:t>PS Category   </a:t>
            </a:r>
            <a:r>
              <a:rPr sz="1150" b="0">
                <a:solidFill>
                  <a:srgbClr val="1E2833"/>
                </a:solidFill>
                <a:latin typeface="Calibri"/>
              </a:rPr>
              <a:t>Software</a:t>
            </a:r>
          </a:p>
          <a:p>
            <a:pPr algn="l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sz="1150" b="1">
                <a:solidFill>
                  <a:srgbClr val="0B2545"/>
                </a:solidFill>
                <a:latin typeface="Calibri"/>
              </a:rPr>
              <a:t>Team ID   </a:t>
            </a:r>
            <a:r>
              <a:rPr sz="1150" b="0">
                <a:solidFill>
                  <a:srgbClr val="C00000"/>
                </a:solidFill>
                <a:latin typeface="Calibri"/>
              </a:rPr>
              <a:t>[Fill from SIH portal]</a:t>
            </a:r>
          </a:p>
          <a:p>
            <a:pPr algn="l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sz="1150" b="1">
                <a:solidFill>
                  <a:srgbClr val="0B2545"/>
                </a:solidFill>
                <a:latin typeface="Calibri"/>
              </a:rPr>
              <a:t>Team Name   </a:t>
            </a:r>
            <a:r>
              <a:rPr sz="1150" b="0">
                <a:solidFill>
                  <a:srgbClr val="C00000"/>
                </a:solidFill>
                <a:latin typeface="Calibri"/>
              </a:rPr>
              <a:t>[Registered on portal]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4645152"/>
            <a:ext cx="5943600" cy="1572768"/>
          </a:xfrm>
          <a:prstGeom prst="roundRect">
            <a:avLst>
              <a:gd name="adj" fmla="val 4000"/>
            </a:avLst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Oval 41"/>
          <p:cNvSpPr/>
          <p:nvPr/>
        </p:nvSpPr>
        <p:spPr>
          <a:xfrm>
            <a:off x="621792" y="4846320"/>
            <a:ext cx="123444" cy="123444"/>
          </a:xfrm>
          <a:prstGeom prst="ellipse">
            <a:avLst/>
          </a:prstGeom>
          <a:solidFill>
            <a:srgbClr val="0C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4672" y="4764024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0C7C8A"/>
                </a:solidFill>
                <a:latin typeface="Calibri"/>
              </a:rPr>
              <a:t>TEAM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5084064"/>
            <a:ext cx="292608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sz="1000" b="0">
                <a:solidFill>
                  <a:srgbClr val="1E2833"/>
                </a:solidFill>
                <a:latin typeface="Calibri"/>
              </a:rPr>
              <a:t>Kunal Shah — Team Lead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sz="1000" b="0">
                <a:solidFill>
                  <a:srgbClr val="1E2833"/>
                </a:solidFill>
                <a:latin typeface="Calibri"/>
              </a:rPr>
              <a:t>Ankit Pandey — 2415000234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sz="1000" b="0">
                <a:solidFill>
                  <a:srgbClr val="1E2833"/>
                </a:solidFill>
                <a:latin typeface="Calibri"/>
              </a:rPr>
              <a:t>Krishna Khandelwal — 2415000841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20440" y="5084064"/>
            <a:ext cx="283464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sz="1000" b="0">
                <a:solidFill>
                  <a:srgbClr val="1E2833"/>
                </a:solidFill>
                <a:latin typeface="Calibri"/>
              </a:rPr>
              <a:t>Aniket Singh — 2415000216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sz="1000" b="0">
                <a:solidFill>
                  <a:srgbClr val="1E2833"/>
                </a:solidFill>
                <a:latin typeface="Calibri"/>
              </a:rPr>
              <a:t>Devanshi Chauhan — 2415000511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sz="1000" b="0">
                <a:solidFill>
                  <a:srgbClr val="1E2833"/>
                </a:solidFill>
                <a:latin typeface="Calibri"/>
              </a:rPr>
              <a:t>Anshika Singh — 2415000265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5925312"/>
            <a:ext cx="566928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5C6773"/>
                </a:solidFill>
                <a:latin typeface="Calibri"/>
              </a:rPr>
              <a:t>GLA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b="1" sz="2800"/>
              <a:t>Quantum Green Fleet (QFleet)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B2545"/>
                </a:solidFill>
              </a:rPr>
              <a:t>[Team Name]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Rounded Rectangle 15361"/>
          <p:cNvSpPr/>
          <p:nvPr/>
        </p:nvSpPr>
        <p:spPr>
          <a:xfrm>
            <a:off x="457200" y="1261872"/>
            <a:ext cx="11274552" cy="914400"/>
          </a:xfrm>
          <a:prstGeom prst="roundRect">
            <a:avLst>
              <a:gd name="adj" fmla="val 4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63" name="TextBox 15362"/>
          <p:cNvSpPr txBox="1"/>
          <p:nvPr/>
        </p:nvSpPr>
        <p:spPr>
          <a:xfrm>
            <a:off x="621792" y="1316736"/>
            <a:ext cx="10945368" cy="8046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9CC3E0"/>
                </a:solidFill>
                <a:latin typeface="Calibri"/>
              </a:rPr>
              <a:t>THE PROBLEM   </a:t>
            </a:r>
            <a:r>
              <a:rPr sz="1300" b="1">
                <a:solidFill>
                  <a:srgbClr val="FFFFFF"/>
                </a:solidFill>
                <a:latin typeface="Calibri"/>
              </a:rPr>
              <a:t>Shipping carries ~90% of world trade and emits ~3% of global CO</a:t>
            </a:r>
            <a:r>
              <a:rPr sz="1300" b="1">
                <a:solidFill>
                  <a:srgbClr val="FFFFFF"/>
                </a:solidFill>
                <a:latin typeface="Calibri"/>
              </a:rPr>
              <a:t>₂</a:t>
            </a:r>
            <a:r>
              <a:rPr sz="1300" b="1">
                <a:solidFill>
                  <a:srgbClr val="FFFFFF"/>
                </a:solidFill>
                <a:latin typeface="Calibri"/>
              </a:rPr>
              <a:t>. Fuel cost, emissions and IMO carbon-intensity rules pull in three different directions — so operators optimise one and lose on the others.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457200" y="2359152"/>
            <a:ext cx="3587496" cy="2606040"/>
          </a:xfrm>
          <a:prstGeom prst="roundRect">
            <a:avLst>
              <a:gd name="adj" fmla="val 4000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65" name="Oval 15364"/>
          <p:cNvSpPr/>
          <p:nvPr/>
        </p:nvSpPr>
        <p:spPr>
          <a:xfrm>
            <a:off x="621792" y="2574036"/>
            <a:ext cx="123444" cy="123444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6" name="TextBox 15365"/>
          <p:cNvSpPr txBox="1"/>
          <p:nvPr/>
        </p:nvSpPr>
        <p:spPr>
          <a:xfrm>
            <a:off x="804672" y="2487168"/>
            <a:ext cx="3112008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0B2545"/>
                </a:solidFill>
                <a:latin typeface="Calibri"/>
              </a:rPr>
              <a:t>OUR SOLUTION</a:t>
            </a:r>
          </a:p>
        </p:txBody>
      </p:sp>
      <p:sp>
        <p:nvSpPr>
          <p:cNvPr id="15367" name="TextBox 15366"/>
          <p:cNvSpPr txBox="1"/>
          <p:nvPr/>
        </p:nvSpPr>
        <p:spPr>
          <a:xfrm>
            <a:off x="621792" y="2834640"/>
            <a:ext cx="3258312" cy="19842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 marL="146304" indent="-146304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Font typeface="Arial"/>
              <a:buChar char="•"/>
            </a:pPr>
            <a:r>
              <a:rPr sz="1100" b="0">
                <a:solidFill>
                  <a:srgbClr val="1E2833"/>
                </a:solidFill>
                <a:latin typeface="Calibri"/>
              </a:rPr>
              <a:t>Decides vessel → lane, speed and fuel for the whole fleet</a:t>
            </a:r>
          </a:p>
          <a:p>
            <a:pPr algn="l" marL="146304" indent="-146304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Font typeface="Arial"/>
              <a:buChar char="•"/>
            </a:pPr>
            <a:r>
              <a:rPr sz="1100" b="0">
                <a:solidFill>
                  <a:srgbClr val="1E2833"/>
                </a:solidFill>
                <a:latin typeface="Calibri"/>
              </a:rPr>
              <a:t>Quantum-inspired multi-objective optimiser (QPSO / QGA)</a:t>
            </a:r>
          </a:p>
          <a:p>
            <a:pPr algn="l" marL="146304" indent="-146304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Font typeface="Arial"/>
              <a:buChar char="•"/>
            </a:pPr>
            <a:r>
              <a:rPr sz="1100" b="0">
                <a:solidFill>
                  <a:srgbClr val="1E2833"/>
                </a:solidFill>
                <a:latin typeface="Calibri"/>
              </a:rPr>
              <a:t>ML fuel-burn predictor and IMO CII scoring built in</a:t>
            </a:r>
          </a:p>
          <a:p>
            <a:pPr algn="l" marL="146304" indent="-146304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Font typeface="Arial"/>
              <a:buChar char="•"/>
            </a:pPr>
            <a:r>
              <a:rPr sz="1100" b="0">
                <a:solidFill>
                  <a:srgbClr val="1E2833"/>
                </a:solidFill>
                <a:latin typeface="Calibri"/>
              </a:rPr>
              <a:t>Live maritime digital-twin simulator to verify the plan</a:t>
            </a:r>
          </a:p>
        </p:txBody>
      </p:sp>
      <p:sp>
        <p:nvSpPr>
          <p:cNvPr id="15368" name="Rounded Rectangle 15367"/>
          <p:cNvSpPr/>
          <p:nvPr/>
        </p:nvSpPr>
        <p:spPr>
          <a:xfrm>
            <a:off x="4300728" y="2359152"/>
            <a:ext cx="3587496" cy="2606040"/>
          </a:xfrm>
          <a:prstGeom prst="roundRect">
            <a:avLst>
              <a:gd name="adj" fmla="val 4000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69" name="Oval 15368"/>
          <p:cNvSpPr/>
          <p:nvPr/>
        </p:nvSpPr>
        <p:spPr>
          <a:xfrm>
            <a:off x="4465320" y="2574036"/>
            <a:ext cx="123444" cy="123444"/>
          </a:xfrm>
          <a:prstGeom prst="ellipse">
            <a:avLst/>
          </a:prstGeom>
          <a:solidFill>
            <a:srgbClr val="1161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0" name="TextBox 15369"/>
          <p:cNvSpPr txBox="1"/>
          <p:nvPr/>
        </p:nvSpPr>
        <p:spPr>
          <a:xfrm>
            <a:off x="4648200" y="2487168"/>
            <a:ext cx="3112008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11618F"/>
                </a:solidFill>
                <a:latin typeface="Calibri"/>
              </a:rPr>
              <a:t>HOW IT SOLVES THE PROBLEM</a:t>
            </a:r>
          </a:p>
        </p:txBody>
      </p:sp>
      <p:sp>
        <p:nvSpPr>
          <p:cNvPr id="15371" name="TextBox 15370"/>
          <p:cNvSpPr txBox="1"/>
          <p:nvPr/>
        </p:nvSpPr>
        <p:spPr>
          <a:xfrm>
            <a:off x="4465320" y="2834640"/>
            <a:ext cx="3258312" cy="19842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 marL="146304" indent="-146304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Font typeface="Arial"/>
              <a:buChar char="•"/>
            </a:pPr>
            <a:r>
              <a:rPr sz="1100" b="0">
                <a:solidFill>
                  <a:srgbClr val="1E2833"/>
                </a:solidFill>
                <a:latin typeface="Calibri"/>
              </a:rPr>
              <a:t>Optimises fuel, CO₂ and cost together — a Pareto front, not a trade-off</a:t>
            </a:r>
          </a:p>
          <a:p>
            <a:pPr algn="l" marL="146304" indent="-146304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Font typeface="Arial"/>
              <a:buChar char="•"/>
            </a:pPr>
            <a:r>
              <a:rPr sz="1100" b="0">
                <a:solidFill>
                  <a:srgbClr val="1E2833"/>
                </a:solidFill>
                <a:latin typeface="Calibri"/>
              </a:rPr>
              <a:t>Honours real limits: cargo demand, transit windows, tank range, bunkering</a:t>
            </a:r>
          </a:p>
          <a:p>
            <a:pPr algn="l" marL="146304" indent="-146304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Font typeface="Arial"/>
              <a:buChar char="•"/>
            </a:pPr>
            <a:r>
              <a:rPr sz="1100" b="0">
                <a:solidFill>
                  <a:srgbClr val="1E2833"/>
                </a:solidFill>
                <a:latin typeface="Calibri"/>
              </a:rPr>
              <a:t>Prices the ECA fuel switch rather than banning fuels</a:t>
            </a:r>
          </a:p>
          <a:p>
            <a:pPr algn="l" marL="146304" indent="-146304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Font typeface="Arial"/>
              <a:buChar char="•"/>
            </a:pPr>
            <a:r>
              <a:rPr sz="1100" b="0">
                <a:solidFill>
                  <a:srgbClr val="1E2833"/>
                </a:solidFill>
                <a:latin typeface="Calibri"/>
              </a:rPr>
              <a:t>Shows every vessel’s IMO CII rating before it sails</a:t>
            </a:r>
          </a:p>
        </p:txBody>
      </p:sp>
      <p:sp>
        <p:nvSpPr>
          <p:cNvPr id="15372" name="Rounded Rectangle 15371"/>
          <p:cNvSpPr/>
          <p:nvPr/>
        </p:nvSpPr>
        <p:spPr>
          <a:xfrm>
            <a:off x="8144256" y="2359152"/>
            <a:ext cx="3587496" cy="2606040"/>
          </a:xfrm>
          <a:prstGeom prst="roundRect">
            <a:avLst>
              <a:gd name="adj" fmla="val 4000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73" name="Oval 15372"/>
          <p:cNvSpPr/>
          <p:nvPr/>
        </p:nvSpPr>
        <p:spPr>
          <a:xfrm>
            <a:off x="8308847" y="2574036"/>
            <a:ext cx="123444" cy="123444"/>
          </a:xfrm>
          <a:prstGeom prst="ellipse">
            <a:avLst/>
          </a:prstGeom>
          <a:solidFill>
            <a:srgbClr val="1B7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4" name="TextBox 15373"/>
          <p:cNvSpPr txBox="1"/>
          <p:nvPr/>
        </p:nvSpPr>
        <p:spPr>
          <a:xfrm>
            <a:off x="8491728" y="2487168"/>
            <a:ext cx="3112008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1B7F3B"/>
                </a:solidFill>
                <a:latin typeface="Calibri"/>
              </a:rPr>
              <a:t>WHY IT IS DIFFERENT</a:t>
            </a:r>
          </a:p>
        </p:txBody>
      </p:sp>
      <p:sp>
        <p:nvSpPr>
          <p:cNvPr id="15375" name="TextBox 15374"/>
          <p:cNvSpPr txBox="1"/>
          <p:nvPr/>
        </p:nvSpPr>
        <p:spPr>
          <a:xfrm>
            <a:off x="8308847" y="2834640"/>
            <a:ext cx="3258312" cy="19842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 marL="146304" indent="-146304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Font typeface="Arial"/>
              <a:buChar char="•"/>
            </a:pPr>
            <a:r>
              <a:rPr sz="1100" b="0">
                <a:solidFill>
                  <a:srgbClr val="1E2833"/>
                </a:solidFill>
                <a:latin typeface="Calibri"/>
              </a:rPr>
              <a:t>Quantum-inspired solvers benchmarked live against PSO &amp; NSGA-II</a:t>
            </a:r>
          </a:p>
          <a:p>
            <a:pPr algn="l" marL="146304" indent="-146304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Font typeface="Arial"/>
              <a:buChar char="•"/>
            </a:pPr>
            <a:r>
              <a:rPr sz="1100" b="0">
                <a:solidFill>
                  <a:srgbClr val="1E2833"/>
                </a:solidFill>
                <a:latin typeface="Calibri"/>
              </a:rPr>
              <a:t>Real IMO MEPC constants computed on screen, not approximated</a:t>
            </a:r>
          </a:p>
          <a:p>
            <a:pPr algn="l" marL="146304" indent="-146304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Font typeface="Arial"/>
              <a:buChar char="•"/>
            </a:pPr>
            <a:r>
              <a:rPr sz="1100" b="0">
                <a:solidFill>
                  <a:srgbClr val="1E2833"/>
                </a:solidFill>
                <a:latin typeface="Calibri"/>
              </a:rPr>
              <a:t>Runs fully offline — no internet needed at the venue</a:t>
            </a:r>
          </a:p>
          <a:p>
            <a:pPr algn="l" marL="146304" indent="-146304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Font typeface="Arial"/>
              <a:buChar char="•"/>
            </a:pPr>
            <a:r>
              <a:rPr sz="1100" b="0">
                <a:solidFill>
                  <a:srgbClr val="1E2833"/>
                </a:solidFill>
                <a:latin typeface="Calibri"/>
              </a:rPr>
              <a:t>Role-based multi-user platform, not a one-off script</a:t>
            </a:r>
          </a:p>
        </p:txBody>
      </p:sp>
      <p:sp>
        <p:nvSpPr>
          <p:cNvPr id="15376" name="Rounded Rectangle 15375"/>
          <p:cNvSpPr/>
          <p:nvPr/>
        </p:nvSpPr>
        <p:spPr>
          <a:xfrm>
            <a:off x="457200" y="5138928"/>
            <a:ext cx="2647188" cy="868680"/>
          </a:xfrm>
          <a:prstGeom prst="roundRect">
            <a:avLst>
              <a:gd name="adj" fmla="val 4000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77" name="TextBox 15376"/>
          <p:cNvSpPr txBox="1"/>
          <p:nvPr/>
        </p:nvSpPr>
        <p:spPr>
          <a:xfrm>
            <a:off x="548640" y="5230368"/>
            <a:ext cx="2464308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2000" b="1">
                <a:solidFill>
                  <a:srgbClr val="11618F"/>
                </a:solidFill>
                <a:latin typeface="Calibri"/>
              </a:rPr>
              <a:t>20–30%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5C6773"/>
                </a:solidFill>
                <a:latin typeface="Calibri"/>
              </a:rPr>
              <a:t>less fuel burnt</a:t>
            </a:r>
          </a:p>
        </p:txBody>
      </p:sp>
      <p:sp>
        <p:nvSpPr>
          <p:cNvPr id="15378" name="Rounded Rectangle 15377"/>
          <p:cNvSpPr/>
          <p:nvPr/>
        </p:nvSpPr>
        <p:spPr>
          <a:xfrm>
            <a:off x="3332988" y="5138928"/>
            <a:ext cx="2647188" cy="868680"/>
          </a:xfrm>
          <a:prstGeom prst="roundRect">
            <a:avLst>
              <a:gd name="adj" fmla="val 4000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79" name="TextBox 15378"/>
          <p:cNvSpPr txBox="1"/>
          <p:nvPr/>
        </p:nvSpPr>
        <p:spPr>
          <a:xfrm>
            <a:off x="3424428" y="5230368"/>
            <a:ext cx="2464308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2000" b="1">
                <a:solidFill>
                  <a:srgbClr val="1B7F3B"/>
                </a:solidFill>
                <a:latin typeface="Calibri"/>
              </a:rPr>
              <a:t>20–30%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5C6773"/>
                </a:solidFill>
                <a:latin typeface="Calibri"/>
              </a:rPr>
              <a:t>less CO₂e emitted</a:t>
            </a:r>
          </a:p>
        </p:txBody>
      </p:sp>
      <p:sp>
        <p:nvSpPr>
          <p:cNvPr id="15380" name="Rounded Rectangle 15379"/>
          <p:cNvSpPr/>
          <p:nvPr/>
        </p:nvSpPr>
        <p:spPr>
          <a:xfrm>
            <a:off x="6208776" y="5138928"/>
            <a:ext cx="2647188" cy="868680"/>
          </a:xfrm>
          <a:prstGeom prst="roundRect">
            <a:avLst>
              <a:gd name="adj" fmla="val 4000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81" name="TextBox 15380"/>
          <p:cNvSpPr txBox="1"/>
          <p:nvPr/>
        </p:nvSpPr>
        <p:spPr>
          <a:xfrm>
            <a:off x="6300216" y="5230368"/>
            <a:ext cx="2464308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2000" b="1">
                <a:solidFill>
                  <a:srgbClr val="0C7C8A"/>
                </a:solidFill>
                <a:latin typeface="Calibri"/>
              </a:rPr>
              <a:t>20–30%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5C6773"/>
                </a:solidFill>
                <a:latin typeface="Calibri"/>
              </a:rPr>
              <a:t>lower voyage cost</a:t>
            </a:r>
          </a:p>
        </p:txBody>
      </p:sp>
      <p:sp>
        <p:nvSpPr>
          <p:cNvPr id="15382" name="Rounded Rectangle 15381"/>
          <p:cNvSpPr/>
          <p:nvPr/>
        </p:nvSpPr>
        <p:spPr>
          <a:xfrm>
            <a:off x="9084564" y="5138928"/>
            <a:ext cx="2647188" cy="868680"/>
          </a:xfrm>
          <a:prstGeom prst="roundRect">
            <a:avLst>
              <a:gd name="adj" fmla="val 4000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83" name="TextBox 15382"/>
          <p:cNvSpPr txBox="1"/>
          <p:nvPr/>
        </p:nvSpPr>
        <p:spPr>
          <a:xfrm>
            <a:off x="9176004" y="5230368"/>
            <a:ext cx="2464308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2000" b="1">
                <a:solidFill>
                  <a:srgbClr val="0B2545"/>
                </a:solidFill>
                <a:latin typeface="Calibri"/>
              </a:rPr>
              <a:t>R² 0.991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5C6773"/>
                </a:solidFill>
                <a:latin typeface="Calibri"/>
              </a:rPr>
              <a:t>fuel-burn model accuracy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B2545"/>
                </a:solidFill>
              </a:rPr>
              <a:t>[Team Name]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57200" y="1207008"/>
            <a:ext cx="11274552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11618F"/>
                </a:solidFill>
                <a:latin typeface="Calibri"/>
              </a:rPr>
              <a:t>TECHNOLOGY STACK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457200" y="1554480"/>
            <a:ext cx="2093976" cy="1600200"/>
          </a:xfrm>
          <a:prstGeom prst="roundRect">
            <a:avLst>
              <a:gd name="adj" fmla="val 4000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2" name="Oval 17411"/>
          <p:cNvSpPr/>
          <p:nvPr/>
        </p:nvSpPr>
        <p:spPr>
          <a:xfrm>
            <a:off x="594360" y="1737360"/>
            <a:ext cx="109728" cy="109728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TextBox 17412"/>
          <p:cNvSpPr txBox="1"/>
          <p:nvPr/>
        </p:nvSpPr>
        <p:spPr>
          <a:xfrm>
            <a:off x="749808" y="1664208"/>
            <a:ext cx="1709928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0B2545"/>
                </a:solidFill>
                <a:latin typeface="Calibri"/>
              </a:rPr>
              <a:t>Backend &amp; API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603504" y="1993392"/>
            <a:ext cx="1801368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sz="1050" b="0">
                <a:solidFill>
                  <a:srgbClr val="1E2833"/>
                </a:solidFill>
                <a:latin typeface="Calibri"/>
              </a:rPr>
              <a:t>Python 3.11</a:t>
            </a:r>
          </a:p>
          <a:p>
            <a:pPr algn="l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sz="1050" b="0">
                <a:solidFill>
                  <a:srgbClr val="1E2833"/>
                </a:solidFill>
                <a:latin typeface="Calibri"/>
              </a:rPr>
              <a:t>FastAPI · Pydantic v2</a:t>
            </a:r>
          </a:p>
          <a:p>
            <a:pPr algn="l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sz="1050" b="0">
                <a:solidFill>
                  <a:srgbClr val="1E2833"/>
                </a:solidFill>
                <a:latin typeface="Calibri"/>
              </a:rPr>
              <a:t>NumPy (vectorised)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2752344" y="1554480"/>
            <a:ext cx="2093976" cy="1600200"/>
          </a:xfrm>
          <a:prstGeom prst="roundRect">
            <a:avLst>
              <a:gd name="adj" fmla="val 4000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6" name="Oval 17415"/>
          <p:cNvSpPr/>
          <p:nvPr/>
        </p:nvSpPr>
        <p:spPr>
          <a:xfrm>
            <a:off x="2889504" y="1737360"/>
            <a:ext cx="109728" cy="109728"/>
          </a:xfrm>
          <a:prstGeom prst="ellipse">
            <a:avLst/>
          </a:prstGeom>
          <a:solidFill>
            <a:srgbClr val="0C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TextBox 17416"/>
          <p:cNvSpPr txBox="1"/>
          <p:nvPr/>
        </p:nvSpPr>
        <p:spPr>
          <a:xfrm>
            <a:off x="3044952" y="1664208"/>
            <a:ext cx="1709928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0C7C8A"/>
                </a:solidFill>
                <a:latin typeface="Calibri"/>
              </a:rPr>
              <a:t>Optimisation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2898648" y="1993392"/>
            <a:ext cx="1801368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sz="1050" b="0">
                <a:solidFill>
                  <a:srgbClr val="1E2833"/>
                </a:solidFill>
                <a:latin typeface="Calibri"/>
              </a:rPr>
              <a:t>QPSO · QGA</a:t>
            </a:r>
          </a:p>
          <a:p>
            <a:pPr algn="l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sz="1050" b="0">
                <a:solidFill>
                  <a:srgbClr val="1E2833"/>
                </a:solidFill>
                <a:latin typeface="Calibri"/>
              </a:rPr>
              <a:t>PSO · NSGA-II</a:t>
            </a:r>
          </a:p>
          <a:p>
            <a:pPr algn="l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sz="1050" b="0">
                <a:solidFill>
                  <a:srgbClr val="1E2833"/>
                </a:solidFill>
                <a:latin typeface="Calibri"/>
              </a:rPr>
              <a:t>Pareto multi-objective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5047488" y="1554480"/>
            <a:ext cx="2093976" cy="1600200"/>
          </a:xfrm>
          <a:prstGeom prst="roundRect">
            <a:avLst>
              <a:gd name="adj" fmla="val 4000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0" name="Oval 17419"/>
          <p:cNvSpPr/>
          <p:nvPr/>
        </p:nvSpPr>
        <p:spPr>
          <a:xfrm>
            <a:off x="5184648" y="1737360"/>
            <a:ext cx="109728" cy="109728"/>
          </a:xfrm>
          <a:prstGeom prst="ellipse">
            <a:avLst/>
          </a:prstGeom>
          <a:solidFill>
            <a:srgbClr val="1B7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TextBox 17420"/>
          <p:cNvSpPr txBox="1"/>
          <p:nvPr/>
        </p:nvSpPr>
        <p:spPr>
          <a:xfrm>
            <a:off x="5340096" y="1664208"/>
            <a:ext cx="1709928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1B7F3B"/>
                </a:solidFill>
                <a:latin typeface="Calibri"/>
              </a:rPr>
              <a:t>Machine Learning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5193792" y="1993392"/>
            <a:ext cx="1801368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sz="1050" b="0">
                <a:solidFill>
                  <a:srgbClr val="1E2833"/>
                </a:solidFill>
                <a:latin typeface="Calibri"/>
              </a:rPr>
              <a:t>XGBoost</a:t>
            </a:r>
          </a:p>
          <a:p>
            <a:pPr algn="l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sz="1050" b="0">
                <a:solidFill>
                  <a:srgbClr val="1E2833"/>
                </a:solidFill>
                <a:latin typeface="Calibri"/>
              </a:rPr>
              <a:t>scikit-learn</a:t>
            </a:r>
          </a:p>
          <a:p>
            <a:pPr algn="l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sz="1050" b="0">
                <a:solidFill>
                  <a:srgbClr val="1E2833"/>
                </a:solidFill>
                <a:latin typeface="Calibri"/>
              </a:rPr>
              <a:t>R² 0.991 · 4.5% error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7342632" y="1554480"/>
            <a:ext cx="2093976" cy="1600200"/>
          </a:xfrm>
          <a:prstGeom prst="roundRect">
            <a:avLst>
              <a:gd name="adj" fmla="val 4000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4" name="Oval 17423"/>
          <p:cNvSpPr/>
          <p:nvPr/>
        </p:nvSpPr>
        <p:spPr>
          <a:xfrm>
            <a:off x="7479792" y="1737360"/>
            <a:ext cx="109728" cy="109728"/>
          </a:xfrm>
          <a:prstGeom prst="ellipse">
            <a:avLst/>
          </a:prstGeom>
          <a:solidFill>
            <a:srgbClr val="1161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5" name="TextBox 17424"/>
          <p:cNvSpPr txBox="1"/>
          <p:nvPr/>
        </p:nvSpPr>
        <p:spPr>
          <a:xfrm>
            <a:off x="7635240" y="1664208"/>
            <a:ext cx="1709928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11618F"/>
                </a:solidFill>
                <a:latin typeface="Calibri"/>
              </a:rPr>
              <a:t>Data &amp; Security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7488936" y="1993392"/>
            <a:ext cx="1801368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sz="1050" b="0">
                <a:solidFill>
                  <a:srgbClr val="1E2833"/>
                </a:solidFill>
                <a:latin typeface="Calibri"/>
              </a:rPr>
              <a:t>SQLAlchemy · Alembic</a:t>
            </a:r>
          </a:p>
          <a:p>
            <a:pPr algn="l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sz="1050" b="0">
                <a:solidFill>
                  <a:srgbClr val="1E2833"/>
                </a:solidFill>
                <a:latin typeface="Calibri"/>
              </a:rPr>
              <a:t>SQLite / PostgreSQL</a:t>
            </a:r>
          </a:p>
          <a:p>
            <a:pPr algn="l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sz="1050" b="0">
                <a:solidFill>
                  <a:srgbClr val="1E2833"/>
                </a:solidFill>
                <a:latin typeface="Calibri"/>
              </a:rPr>
              <a:t>JWT · bcrypt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9637776" y="1554480"/>
            <a:ext cx="2093976" cy="1600200"/>
          </a:xfrm>
          <a:prstGeom prst="roundRect">
            <a:avLst>
              <a:gd name="adj" fmla="val 4000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8" name="Oval 17427"/>
          <p:cNvSpPr/>
          <p:nvPr/>
        </p:nvSpPr>
        <p:spPr>
          <a:xfrm>
            <a:off x="9774936" y="1737360"/>
            <a:ext cx="109728" cy="109728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9" name="TextBox 17428"/>
          <p:cNvSpPr txBox="1"/>
          <p:nvPr/>
        </p:nvSpPr>
        <p:spPr>
          <a:xfrm>
            <a:off x="9930384" y="1664208"/>
            <a:ext cx="1709928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0B2545"/>
                </a:solidFill>
                <a:latin typeface="Calibri"/>
              </a:rPr>
              <a:t>Frontend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9784080" y="1993392"/>
            <a:ext cx="1801368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sz="1050" b="0">
                <a:solidFill>
                  <a:srgbClr val="1E2833"/>
                </a:solidFill>
                <a:latin typeface="Calibri"/>
              </a:rPr>
              <a:t>React 19 · Vite</a:t>
            </a:r>
          </a:p>
          <a:p>
            <a:pPr algn="l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sz="1050" b="0">
                <a:solidFill>
                  <a:srgbClr val="1E2833"/>
                </a:solidFill>
                <a:latin typeface="Calibri"/>
              </a:rPr>
              <a:t>Tailwind · Recharts</a:t>
            </a:r>
          </a:p>
          <a:p>
            <a:pPr algn="l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sz="1050" b="0">
                <a:solidFill>
                  <a:srgbClr val="1E2833"/>
                </a:solidFill>
                <a:latin typeface="Calibri"/>
              </a:rPr>
              <a:t>Offline SVG world map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457200" y="3310128"/>
            <a:ext cx="11274552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11618F"/>
                </a:solidFill>
                <a:latin typeface="Calibri"/>
              </a:rPr>
              <a:t>IMPLEMENTATION PIPELINE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457200" y="3657600"/>
            <a:ext cx="1726692" cy="1097280"/>
          </a:xfrm>
          <a:prstGeom prst="roundRect">
            <a:avLst>
              <a:gd name="adj" fmla="val 10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1">
                <a:solidFill>
                  <a:srgbClr val="FFFFFF"/>
                </a:solidFill>
                <a:latin typeface="Calibri"/>
              </a:rPr>
              <a:t>Fleet, lane &amp;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FFFFFF"/>
                </a:solidFill>
                <a:latin typeface="Calibri"/>
              </a:rPr>
              <a:t>fuel data</a:t>
            </a:r>
          </a:p>
        </p:txBody>
      </p:sp>
      <p:sp>
        <p:nvSpPr>
          <p:cNvPr id="17433" name="Right Arrow 17432"/>
          <p:cNvSpPr/>
          <p:nvPr/>
        </p:nvSpPr>
        <p:spPr>
          <a:xfrm>
            <a:off x="2197608" y="4137659"/>
            <a:ext cx="155448" cy="137160"/>
          </a:xfrm>
          <a:prstGeom prst="rightArrow">
            <a:avLst/>
          </a:prstGeom>
          <a:solidFill>
            <a:srgbClr val="5C67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4" name="Rounded Rectangle 17433"/>
          <p:cNvSpPr/>
          <p:nvPr/>
        </p:nvSpPr>
        <p:spPr>
          <a:xfrm>
            <a:off x="2366772" y="3657600"/>
            <a:ext cx="1726692" cy="1097280"/>
          </a:xfrm>
          <a:prstGeom prst="roundRect">
            <a:avLst>
              <a:gd name="adj" fmla="val 10000"/>
            </a:avLst>
          </a:prstGeom>
          <a:solidFill>
            <a:srgbClr val="1161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1">
                <a:solidFill>
                  <a:srgbClr val="FFFFFF"/>
                </a:solidFill>
                <a:latin typeface="Calibri"/>
              </a:rPr>
              <a:t>Physics model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FFFFFF"/>
                </a:solidFill>
                <a:latin typeface="Calibri"/>
              </a:rPr>
              <a:t>speed-power,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FFFFFF"/>
                </a:solidFill>
                <a:latin typeface="Calibri"/>
              </a:rPr>
              <a:t>weather, load</a:t>
            </a:r>
          </a:p>
        </p:txBody>
      </p:sp>
      <p:sp>
        <p:nvSpPr>
          <p:cNvPr id="17435" name="Right Arrow 17434"/>
          <p:cNvSpPr/>
          <p:nvPr/>
        </p:nvSpPr>
        <p:spPr>
          <a:xfrm>
            <a:off x="4107179" y="4137659"/>
            <a:ext cx="155448" cy="137160"/>
          </a:xfrm>
          <a:prstGeom prst="rightArrow">
            <a:avLst/>
          </a:prstGeom>
          <a:solidFill>
            <a:srgbClr val="5C67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6" name="Rounded Rectangle 17435"/>
          <p:cNvSpPr/>
          <p:nvPr/>
        </p:nvSpPr>
        <p:spPr>
          <a:xfrm>
            <a:off x="4276344" y="3657600"/>
            <a:ext cx="1726692" cy="1097280"/>
          </a:xfrm>
          <a:prstGeom prst="roundRect">
            <a:avLst>
              <a:gd name="adj" fmla="val 10000"/>
            </a:avLst>
          </a:prstGeom>
          <a:solidFill>
            <a:srgbClr val="0C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1">
                <a:solidFill>
                  <a:srgbClr val="FFFFFF"/>
                </a:solidFill>
                <a:latin typeface="Calibri"/>
              </a:rPr>
              <a:t>Quantum-inspired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FFFFFF"/>
                </a:solidFill>
                <a:latin typeface="Calibri"/>
              </a:rPr>
              <a:t>multi-objective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FFFFFF"/>
                </a:solidFill>
                <a:latin typeface="Calibri"/>
              </a:rPr>
              <a:t>solver</a:t>
            </a:r>
          </a:p>
        </p:txBody>
      </p:sp>
      <p:sp>
        <p:nvSpPr>
          <p:cNvPr id="17437" name="Right Arrow 17436"/>
          <p:cNvSpPr/>
          <p:nvPr/>
        </p:nvSpPr>
        <p:spPr>
          <a:xfrm>
            <a:off x="6016752" y="4137659"/>
            <a:ext cx="155448" cy="137160"/>
          </a:xfrm>
          <a:prstGeom prst="rightArrow">
            <a:avLst/>
          </a:prstGeom>
          <a:solidFill>
            <a:srgbClr val="5C67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8" name="Rounded Rectangle 17437"/>
          <p:cNvSpPr/>
          <p:nvPr/>
        </p:nvSpPr>
        <p:spPr>
          <a:xfrm>
            <a:off x="6185916" y="3657600"/>
            <a:ext cx="1726692" cy="1097280"/>
          </a:xfrm>
          <a:prstGeom prst="roundRect">
            <a:avLst>
              <a:gd name="adj" fmla="val 10000"/>
            </a:avLst>
          </a:prstGeom>
          <a:solidFill>
            <a:srgbClr val="1B7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1">
                <a:solidFill>
                  <a:srgbClr val="FFFFFF"/>
                </a:solidFill>
                <a:latin typeface="Calibri"/>
              </a:rPr>
              <a:t>Pareto plan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FFFFFF"/>
                </a:solidFill>
                <a:latin typeface="Calibri"/>
              </a:rPr>
              <a:t>vessel → lane,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FFFFFF"/>
                </a:solidFill>
                <a:latin typeface="Calibri"/>
              </a:rPr>
              <a:t>speed, fuel</a:t>
            </a:r>
          </a:p>
        </p:txBody>
      </p:sp>
      <p:sp>
        <p:nvSpPr>
          <p:cNvPr id="17439" name="Right Arrow 17438"/>
          <p:cNvSpPr/>
          <p:nvPr/>
        </p:nvSpPr>
        <p:spPr>
          <a:xfrm>
            <a:off x="7926324" y="4137659"/>
            <a:ext cx="155448" cy="137160"/>
          </a:xfrm>
          <a:prstGeom prst="rightArrow">
            <a:avLst/>
          </a:prstGeom>
          <a:solidFill>
            <a:srgbClr val="5C67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0" name="Rounded Rectangle 17439"/>
          <p:cNvSpPr/>
          <p:nvPr/>
        </p:nvSpPr>
        <p:spPr>
          <a:xfrm>
            <a:off x="8095488" y="3657600"/>
            <a:ext cx="1726692" cy="1097280"/>
          </a:xfrm>
          <a:prstGeom prst="roundRect">
            <a:avLst>
              <a:gd name="adj" fmla="val 10000"/>
            </a:avLst>
          </a:prstGeom>
          <a:solidFill>
            <a:srgbClr val="1161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1">
                <a:solidFill>
                  <a:srgbClr val="FFFFFF"/>
                </a:solidFill>
                <a:latin typeface="Calibri"/>
              </a:rPr>
              <a:t>CII + ECA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FFFFFF"/>
                </a:solidFill>
                <a:latin typeface="Calibri"/>
              </a:rPr>
              <a:t>compliance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FFFFFF"/>
                </a:solidFill>
                <a:latin typeface="Calibri"/>
              </a:rPr>
              <a:t>scoring</a:t>
            </a:r>
          </a:p>
        </p:txBody>
      </p:sp>
      <p:sp>
        <p:nvSpPr>
          <p:cNvPr id="17441" name="Right Arrow 17440"/>
          <p:cNvSpPr/>
          <p:nvPr/>
        </p:nvSpPr>
        <p:spPr>
          <a:xfrm>
            <a:off x="9835896" y="4137659"/>
            <a:ext cx="155448" cy="137160"/>
          </a:xfrm>
          <a:prstGeom prst="rightArrow">
            <a:avLst/>
          </a:prstGeom>
          <a:solidFill>
            <a:srgbClr val="5C67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2" name="Rounded Rectangle 17441"/>
          <p:cNvSpPr/>
          <p:nvPr/>
        </p:nvSpPr>
        <p:spPr>
          <a:xfrm>
            <a:off x="10005060" y="3657600"/>
            <a:ext cx="1726692" cy="1097280"/>
          </a:xfrm>
          <a:prstGeom prst="roundRect">
            <a:avLst>
              <a:gd name="adj" fmla="val 10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1">
                <a:solidFill>
                  <a:srgbClr val="FFFFFF"/>
                </a:solidFill>
                <a:latin typeface="Calibri"/>
              </a:rPr>
              <a:t>Live simulator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FFFFFF"/>
                </a:solidFill>
                <a:latin typeface="Calibri"/>
              </a:rPr>
              <a:t>&amp; dashboard</a:t>
            </a:r>
          </a:p>
        </p:txBody>
      </p:sp>
      <p:sp>
        <p:nvSpPr>
          <p:cNvPr id="17443" name="Rounded Rectangle 17442"/>
          <p:cNvSpPr/>
          <p:nvPr/>
        </p:nvSpPr>
        <p:spPr>
          <a:xfrm>
            <a:off x="457200" y="5029200"/>
            <a:ext cx="11274552" cy="621792"/>
          </a:xfrm>
          <a:prstGeom prst="roundRect">
            <a:avLst>
              <a:gd name="adj" fmla="val 4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4" name="TextBox 17443"/>
          <p:cNvSpPr txBox="1"/>
          <p:nvPr/>
        </p:nvSpPr>
        <p:spPr>
          <a:xfrm>
            <a:off x="621792" y="5084064"/>
            <a:ext cx="10945368" cy="5120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9CC3E0"/>
                </a:solidFill>
                <a:latin typeface="Calibri"/>
              </a:rPr>
              <a:t>Engineering:   </a:t>
            </a:r>
            <a:r>
              <a:rPr sz="1150" b="0">
                <a:solidFill>
                  <a:srgbClr val="FFFFFF"/>
                </a:solidFill>
                <a:latin typeface="Calibri"/>
              </a:rPr>
              <a:t>300+ automated tests  ·  27 REST API endpoints  ·  Server-Sent-Event streaming  ·  runs offline on a single laptop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B2545"/>
                </a:solidFill>
              </a:rPr>
              <a:t>[Team Name]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457200" y="1261872"/>
            <a:ext cx="2647188" cy="914400"/>
          </a:xfrm>
          <a:prstGeom prst="roundRect">
            <a:avLst>
              <a:gd name="adj" fmla="val 4000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1" name="TextBox 17410"/>
          <p:cNvSpPr txBox="1"/>
          <p:nvPr/>
        </p:nvSpPr>
        <p:spPr>
          <a:xfrm>
            <a:off x="548640" y="1353312"/>
            <a:ext cx="2464308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2400" b="1">
                <a:solidFill>
                  <a:srgbClr val="0B2545"/>
                </a:solidFill>
                <a:latin typeface="Calibri"/>
              </a:rPr>
              <a:t>65+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5C6773"/>
                </a:solidFill>
                <a:latin typeface="Calibri"/>
              </a:rPr>
              <a:t>modules built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3332988" y="1261872"/>
            <a:ext cx="2647188" cy="914400"/>
          </a:xfrm>
          <a:prstGeom prst="roundRect">
            <a:avLst>
              <a:gd name="adj" fmla="val 4000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3" name="TextBox 17412"/>
          <p:cNvSpPr txBox="1"/>
          <p:nvPr/>
        </p:nvSpPr>
        <p:spPr>
          <a:xfrm>
            <a:off x="3424428" y="1353312"/>
            <a:ext cx="2464308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2400" b="1">
                <a:solidFill>
                  <a:srgbClr val="1B7F3B"/>
                </a:solidFill>
                <a:latin typeface="Calibri"/>
              </a:rPr>
              <a:t>300+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5C6773"/>
                </a:solidFill>
                <a:latin typeface="Calibri"/>
              </a:rPr>
              <a:t>automated tests passing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6208776" y="1261872"/>
            <a:ext cx="2647188" cy="914400"/>
          </a:xfrm>
          <a:prstGeom prst="roundRect">
            <a:avLst>
              <a:gd name="adj" fmla="val 4000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5" name="TextBox 17414"/>
          <p:cNvSpPr txBox="1"/>
          <p:nvPr/>
        </p:nvSpPr>
        <p:spPr>
          <a:xfrm>
            <a:off x="6300216" y="1353312"/>
            <a:ext cx="2464308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2400" b="1">
                <a:solidFill>
                  <a:srgbClr val="11618F"/>
                </a:solidFill>
                <a:latin typeface="Calibri"/>
              </a:rPr>
              <a:t>27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5C6773"/>
                </a:solidFill>
                <a:latin typeface="Calibri"/>
              </a:rPr>
              <a:t>REST API endpoints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9084564" y="1261872"/>
            <a:ext cx="2647188" cy="914400"/>
          </a:xfrm>
          <a:prstGeom prst="roundRect">
            <a:avLst>
              <a:gd name="adj" fmla="val 4000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7" name="TextBox 17416"/>
          <p:cNvSpPr txBox="1"/>
          <p:nvPr/>
        </p:nvSpPr>
        <p:spPr>
          <a:xfrm>
            <a:off x="9176004" y="1353312"/>
            <a:ext cx="2464308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2400" b="1">
                <a:solidFill>
                  <a:srgbClr val="0C7C8A"/>
                </a:solidFill>
                <a:latin typeface="Calibri"/>
              </a:rPr>
              <a:t>Seconds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5C6773"/>
                </a:solidFill>
                <a:latin typeface="Calibri"/>
              </a:rPr>
              <a:t>20 vessels × 16 lanes solved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457200" y="2331720"/>
            <a:ext cx="3587496" cy="2395728"/>
          </a:xfrm>
          <a:prstGeom prst="roundRect">
            <a:avLst>
              <a:gd name="adj" fmla="val 4000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9" name="Oval 17418"/>
          <p:cNvSpPr/>
          <p:nvPr/>
        </p:nvSpPr>
        <p:spPr>
          <a:xfrm>
            <a:off x="621792" y="2546603"/>
            <a:ext cx="123444" cy="123444"/>
          </a:xfrm>
          <a:prstGeom prst="ellipse">
            <a:avLst/>
          </a:prstGeom>
          <a:solidFill>
            <a:srgbClr val="1B7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TextBox 17419"/>
          <p:cNvSpPr txBox="1"/>
          <p:nvPr/>
        </p:nvSpPr>
        <p:spPr>
          <a:xfrm>
            <a:off x="804672" y="2459736"/>
            <a:ext cx="3112008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1B7F3B"/>
                </a:solidFill>
                <a:latin typeface="Calibri"/>
              </a:rPr>
              <a:t>FEASIBLE TODAY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621792" y="2807208"/>
            <a:ext cx="3258312" cy="17739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 marL="146304" indent="-146304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Font typeface="Arial"/>
              <a:buChar char="•"/>
            </a:pPr>
            <a:r>
              <a:rPr sz="1100" b="0">
                <a:solidFill>
                  <a:srgbClr val="1E2833"/>
                </a:solidFill>
                <a:latin typeface="Calibri"/>
              </a:rPr>
              <a:t>Working prototype, end to end — not a concept</a:t>
            </a:r>
          </a:p>
          <a:p>
            <a:pPr algn="l" marL="146304" indent="-146304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Font typeface="Arial"/>
              <a:buChar char="•"/>
            </a:pPr>
            <a:r>
              <a:rPr sz="1100" b="0">
                <a:solidFill>
                  <a:srgbClr val="1E2833"/>
                </a:solidFill>
                <a:latin typeface="Calibri"/>
              </a:rPr>
              <a:t>Runs on an ordinary laptop; no cloud or GPU needed</a:t>
            </a:r>
          </a:p>
          <a:p>
            <a:pPr algn="l" marL="146304" indent="-146304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Font typeface="Arial"/>
              <a:buChar char="•"/>
            </a:pPr>
            <a:r>
              <a:rPr sz="1100" b="0">
                <a:solidFill>
                  <a:srgbClr val="1E2833"/>
                </a:solidFill>
                <a:latin typeface="Calibri"/>
              </a:rPr>
              <a:t>Built on open data and standard, free libraries</a:t>
            </a:r>
          </a:p>
          <a:p>
            <a:pPr algn="l" marL="146304" indent="-146304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Font typeface="Arial"/>
              <a:buChar char="•"/>
            </a:pPr>
            <a:r>
              <a:rPr sz="1100" b="0">
                <a:solidFill>
                  <a:srgbClr val="1E2833"/>
                </a:solidFill>
                <a:latin typeface="Calibri"/>
              </a:rPr>
              <a:t>Offline-capable, so a venue demo cannot fail on Wi-Fi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4300728" y="2331720"/>
            <a:ext cx="3587496" cy="2395728"/>
          </a:xfrm>
          <a:prstGeom prst="roundRect">
            <a:avLst>
              <a:gd name="adj" fmla="val 4000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3" name="Oval 17422"/>
          <p:cNvSpPr/>
          <p:nvPr/>
        </p:nvSpPr>
        <p:spPr>
          <a:xfrm>
            <a:off x="4465320" y="2546603"/>
            <a:ext cx="123444" cy="123444"/>
          </a:xfrm>
          <a:prstGeom prst="ellipse">
            <a:avLst/>
          </a:prstGeom>
          <a:solidFill>
            <a:srgbClr val="A966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4" name="TextBox 17423"/>
          <p:cNvSpPr txBox="1"/>
          <p:nvPr/>
        </p:nvSpPr>
        <p:spPr>
          <a:xfrm>
            <a:off x="4648200" y="2459736"/>
            <a:ext cx="3112008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A9660A"/>
                </a:solidFill>
                <a:latin typeface="Calibri"/>
              </a:rPr>
              <a:t>RISKS WE SEE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4465320" y="2807208"/>
            <a:ext cx="3258312" cy="17739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 marL="146304" indent="-146304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Font typeface="Arial"/>
              <a:buChar char="•"/>
            </a:pPr>
            <a:r>
              <a:rPr sz="1100" b="0">
                <a:solidFill>
                  <a:srgbClr val="1E2833"/>
                </a:solidFill>
                <a:latin typeface="Calibri"/>
              </a:rPr>
              <a:t>Solve latency grows at 60+ vessels (~17 s worst case)</a:t>
            </a:r>
          </a:p>
          <a:p>
            <a:pPr algn="l" marL="146304" indent="-146304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Font typeface="Arial"/>
              <a:buChar char="•"/>
            </a:pPr>
            <a:r>
              <a:rPr sz="1100" b="0">
                <a:solidFill>
                  <a:srgbClr val="1E2833"/>
                </a:solidFill>
                <a:latin typeface="Calibri"/>
              </a:rPr>
              <a:t>Pareto fronts are small — fuel, CO₂ and cost correlate</a:t>
            </a:r>
          </a:p>
          <a:p>
            <a:pPr algn="l" marL="146304" indent="-146304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Font typeface="Arial"/>
              <a:buChar char="•"/>
            </a:pPr>
            <a:r>
              <a:rPr sz="1100" b="0">
                <a:solidFill>
                  <a:srgbClr val="1E2833"/>
                </a:solidFill>
                <a:latin typeface="Calibri"/>
              </a:rPr>
              <a:t>Indicative climatology and ECA polygons, not measured feeds</a:t>
            </a:r>
          </a:p>
          <a:p>
            <a:pPr algn="l" marL="146304" indent="-146304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Font typeface="Arial"/>
              <a:buChar char="•"/>
            </a:pPr>
            <a:r>
              <a:rPr sz="1100" b="0">
                <a:solidFill>
                  <a:srgbClr val="1E2833"/>
                </a:solidFill>
                <a:latin typeface="Calibri"/>
              </a:rPr>
              <a:t>Single-voyage CII extrapolates an annual regulatory metric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8144256" y="2331720"/>
            <a:ext cx="3587496" cy="2395728"/>
          </a:xfrm>
          <a:prstGeom prst="roundRect">
            <a:avLst>
              <a:gd name="adj" fmla="val 4000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7" name="Oval 17426"/>
          <p:cNvSpPr/>
          <p:nvPr/>
        </p:nvSpPr>
        <p:spPr>
          <a:xfrm>
            <a:off x="8308847" y="2546603"/>
            <a:ext cx="123444" cy="123444"/>
          </a:xfrm>
          <a:prstGeom prst="ellipse">
            <a:avLst/>
          </a:prstGeom>
          <a:solidFill>
            <a:srgbClr val="1161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8" name="TextBox 17427"/>
          <p:cNvSpPr txBox="1"/>
          <p:nvPr/>
        </p:nvSpPr>
        <p:spPr>
          <a:xfrm>
            <a:off x="8491728" y="2459736"/>
            <a:ext cx="3112008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11618F"/>
                </a:solidFill>
                <a:latin typeface="Calibri"/>
              </a:rPr>
              <a:t>HOW WE HANDLE THEM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8308847" y="2807208"/>
            <a:ext cx="3258312" cy="17739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 marL="146304" indent="-146304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Font typeface="Arial"/>
              <a:buChar char="•"/>
            </a:pPr>
            <a:r>
              <a:rPr sz="1100" b="0">
                <a:solidFill>
                  <a:srgbClr val="1E2833"/>
                </a:solidFill>
                <a:latin typeface="Calibri"/>
              </a:rPr>
              <a:t>Asynchronous job queue + PostgreSQL for production scale</a:t>
            </a:r>
          </a:p>
          <a:p>
            <a:pPr algn="l" marL="146304" indent="-146304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Font typeface="Arial"/>
              <a:buChar char="•"/>
            </a:pPr>
            <a:r>
              <a:rPr sz="1100" b="0">
                <a:solidFill>
                  <a:srgbClr val="1E2833"/>
                </a:solidFill>
                <a:latin typeface="Calibri"/>
              </a:rPr>
              <a:t>Every assumption labelled on screen for reviewers to check</a:t>
            </a:r>
          </a:p>
          <a:p>
            <a:pPr algn="l" marL="146304" indent="-146304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Font typeface="Arial"/>
              <a:buChar char="•"/>
            </a:pPr>
            <a:r>
              <a:rPr sz="1100" b="0">
                <a:solidFill>
                  <a:srgbClr val="1E2833"/>
                </a:solidFill>
                <a:latin typeface="Calibri"/>
              </a:rPr>
              <a:t>Validated against published IMO MEPC constants in tests</a:t>
            </a:r>
          </a:p>
          <a:p>
            <a:pPr algn="l" marL="146304" indent="-146304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Font typeface="Arial"/>
              <a:buChar char="•"/>
            </a:pPr>
            <a:r>
              <a:rPr sz="1100" b="0">
                <a:solidFill>
                  <a:srgbClr val="1E2833"/>
                </a:solidFill>
                <a:latin typeface="Calibri"/>
              </a:rPr>
              <a:t>Roadmap to real annealing hardware — already a QUBO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457200" y="4937760"/>
            <a:ext cx="11274552" cy="640080"/>
          </a:xfrm>
          <a:prstGeom prst="roundRect">
            <a:avLst>
              <a:gd name="adj" fmla="val 4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1" name="TextBox 17430"/>
          <p:cNvSpPr txBox="1"/>
          <p:nvPr/>
        </p:nvSpPr>
        <p:spPr>
          <a:xfrm>
            <a:off x="621792" y="4992624"/>
            <a:ext cx="10945368" cy="53035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9CC3E0"/>
                </a:solidFill>
                <a:latin typeface="Calibri"/>
              </a:rPr>
              <a:t>Bottom line:   </a:t>
            </a:r>
            <a:r>
              <a:rPr sz="1200" b="0">
                <a:solidFill>
                  <a:srgbClr val="FFFFFF"/>
                </a:solidFill>
                <a:latin typeface="Calibri"/>
              </a:rPr>
              <a:t>the full pipeline already runs today — scaling it is engineering work, not new research.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B2545"/>
                </a:solidFill>
              </a:rPr>
              <a:t>[Team Name]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457200" y="1261872"/>
            <a:ext cx="3587496" cy="1024128"/>
          </a:xfrm>
          <a:prstGeom prst="roundRect">
            <a:avLst>
              <a:gd name="adj" fmla="val 4000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1" name="TextBox 17410"/>
          <p:cNvSpPr txBox="1"/>
          <p:nvPr/>
        </p:nvSpPr>
        <p:spPr>
          <a:xfrm>
            <a:off x="548640" y="1353312"/>
            <a:ext cx="3404616" cy="8412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2300" b="1">
                <a:solidFill>
                  <a:srgbClr val="1B7F3B"/>
                </a:solidFill>
                <a:latin typeface="Calibri"/>
              </a:rPr>
              <a:t>20–30% ↓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5C6773"/>
                </a:solidFill>
                <a:latin typeface="Calibri"/>
              </a:rPr>
              <a:t>CO₂e on the modelled fleet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4300728" y="1261872"/>
            <a:ext cx="3587496" cy="1024128"/>
          </a:xfrm>
          <a:prstGeom prst="roundRect">
            <a:avLst>
              <a:gd name="adj" fmla="val 4000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3" name="TextBox 17412"/>
          <p:cNvSpPr txBox="1"/>
          <p:nvPr/>
        </p:nvSpPr>
        <p:spPr>
          <a:xfrm>
            <a:off x="4392167" y="1353312"/>
            <a:ext cx="3404616" cy="8412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2300" b="1">
                <a:solidFill>
                  <a:srgbClr val="11618F"/>
                </a:solidFill>
                <a:latin typeface="Calibri"/>
              </a:rPr>
              <a:t>20–30% ↓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5C6773"/>
                </a:solidFill>
                <a:latin typeface="Calibri"/>
              </a:rPr>
              <a:t>bunker and voyage cost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8144256" y="1261872"/>
            <a:ext cx="3587496" cy="1024128"/>
          </a:xfrm>
          <a:prstGeom prst="roundRect">
            <a:avLst>
              <a:gd name="adj" fmla="val 4000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5" name="TextBox 17414"/>
          <p:cNvSpPr txBox="1"/>
          <p:nvPr/>
        </p:nvSpPr>
        <p:spPr>
          <a:xfrm>
            <a:off x="8235695" y="1353312"/>
            <a:ext cx="3404616" cy="8412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2300" b="1">
                <a:solidFill>
                  <a:srgbClr val="0C7C8A"/>
                </a:solidFill>
                <a:latin typeface="Calibri"/>
              </a:rPr>
              <a:t>Every vessel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5C6773"/>
                </a:solidFill>
                <a:latin typeface="Calibri"/>
              </a:rPr>
              <a:t>IMO CII-rated before sailing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457200" y="2450592"/>
            <a:ext cx="3587496" cy="2487168"/>
          </a:xfrm>
          <a:prstGeom prst="roundRect">
            <a:avLst>
              <a:gd name="adj" fmla="val 4000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7" name="Oval 17416"/>
          <p:cNvSpPr/>
          <p:nvPr/>
        </p:nvSpPr>
        <p:spPr>
          <a:xfrm>
            <a:off x="621792" y="2665476"/>
            <a:ext cx="123444" cy="123444"/>
          </a:xfrm>
          <a:prstGeom prst="ellipse">
            <a:avLst/>
          </a:prstGeom>
          <a:solidFill>
            <a:srgbClr val="1B7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TextBox 17417"/>
          <p:cNvSpPr txBox="1"/>
          <p:nvPr/>
        </p:nvSpPr>
        <p:spPr>
          <a:xfrm>
            <a:off x="804672" y="2578608"/>
            <a:ext cx="3112008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1B7F3B"/>
                </a:solidFill>
                <a:latin typeface="Calibri"/>
              </a:rPr>
              <a:t>ENVIRONMENTAL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621792" y="2926080"/>
            <a:ext cx="3258312" cy="186537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 marL="146304" indent="-146304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Font typeface="Arial"/>
              <a:buChar char="•"/>
            </a:pPr>
            <a:r>
              <a:rPr sz="1100" b="0">
                <a:solidFill>
                  <a:srgbClr val="1E2833"/>
                </a:solidFill>
                <a:latin typeface="Calibri"/>
              </a:rPr>
              <a:t>Cuts CO₂e 20–30% without buying a single new ship</a:t>
            </a:r>
          </a:p>
          <a:p>
            <a:pPr algn="l" marL="146304" indent="-146304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Font typeface="Arial"/>
              <a:buChar char="•"/>
            </a:pPr>
            <a:r>
              <a:rPr sz="1100" b="0">
                <a:solidFill>
                  <a:srgbClr val="1E2833"/>
                </a:solidFill>
                <a:latin typeface="Calibri"/>
              </a:rPr>
              <a:t>Supports IMO net-zero ~2050 and CII compliance</a:t>
            </a:r>
          </a:p>
          <a:p>
            <a:pPr algn="l" marL="146304" indent="-146304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Font typeface="Arial"/>
              <a:buChar char="•"/>
            </a:pPr>
            <a:r>
              <a:rPr sz="1100" b="0">
                <a:solidFill>
                  <a:srgbClr val="1E2833"/>
                </a:solidFill>
                <a:latin typeface="Calibri"/>
              </a:rPr>
              <a:t>Rewards LNG and methanol on regulated lanes</a:t>
            </a:r>
          </a:p>
          <a:p>
            <a:pPr algn="l" marL="146304" indent="-146304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Font typeface="Arial"/>
              <a:buChar char="•"/>
            </a:pPr>
            <a:r>
              <a:rPr sz="1100" b="0">
                <a:solidFill>
                  <a:srgbClr val="1E2833"/>
                </a:solidFill>
                <a:latin typeface="Calibri"/>
              </a:rPr>
              <a:t>Less sulphur inside ECAs and near populated ports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4300728" y="2450592"/>
            <a:ext cx="3587496" cy="2487168"/>
          </a:xfrm>
          <a:prstGeom prst="roundRect">
            <a:avLst>
              <a:gd name="adj" fmla="val 4000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1" name="Oval 17420"/>
          <p:cNvSpPr/>
          <p:nvPr/>
        </p:nvSpPr>
        <p:spPr>
          <a:xfrm>
            <a:off x="4465320" y="2665476"/>
            <a:ext cx="123444" cy="123444"/>
          </a:xfrm>
          <a:prstGeom prst="ellipse">
            <a:avLst/>
          </a:prstGeom>
          <a:solidFill>
            <a:srgbClr val="1161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2" name="TextBox 17421"/>
          <p:cNvSpPr txBox="1"/>
          <p:nvPr/>
        </p:nvSpPr>
        <p:spPr>
          <a:xfrm>
            <a:off x="4648200" y="2578608"/>
            <a:ext cx="3112008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11618F"/>
                </a:solidFill>
                <a:latin typeface="Calibri"/>
              </a:rPr>
              <a:t>ECONOMIC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4465320" y="2926080"/>
            <a:ext cx="3258312" cy="186537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 marL="146304" indent="-146304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Font typeface="Arial"/>
              <a:buChar char="•"/>
            </a:pPr>
            <a:r>
              <a:rPr sz="1100" b="0">
                <a:solidFill>
                  <a:srgbClr val="1E2833"/>
                </a:solidFill>
                <a:latin typeface="Calibri"/>
              </a:rPr>
              <a:t>Lower bunker spend — the single largest voyage cost</a:t>
            </a:r>
          </a:p>
          <a:p>
            <a:pPr algn="l" marL="146304" indent="-146304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Font typeface="Arial"/>
              <a:buChar char="•"/>
            </a:pPr>
            <a:r>
              <a:rPr sz="1100" b="0">
                <a:solidFill>
                  <a:srgbClr val="1E2833"/>
                </a:solidFill>
                <a:latin typeface="Calibri"/>
              </a:rPr>
              <a:t>Avoids CII penalties, charter-rate loss and detentions</a:t>
            </a:r>
          </a:p>
          <a:p>
            <a:pPr algn="l" marL="146304" indent="-146304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Font typeface="Arial"/>
              <a:buChar char="•"/>
            </a:pPr>
            <a:r>
              <a:rPr sz="1100" b="0">
                <a:solidFill>
                  <a:srgbClr val="1E2833"/>
                </a:solidFill>
                <a:latin typeface="Calibri"/>
              </a:rPr>
              <a:t>Better fleet utilisation across lanes and seasons</a:t>
            </a:r>
          </a:p>
          <a:p>
            <a:pPr algn="l" marL="146304" indent="-146304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Font typeface="Arial"/>
              <a:buChar char="•"/>
            </a:pPr>
            <a:r>
              <a:rPr sz="1100" b="0">
                <a:solidFill>
                  <a:srgbClr val="1E2833"/>
                </a:solidFill>
                <a:latin typeface="Calibri"/>
              </a:rPr>
              <a:t>Plans in seconds instead of spreadsheet weeks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8144256" y="2450592"/>
            <a:ext cx="3587496" cy="2487168"/>
          </a:xfrm>
          <a:prstGeom prst="roundRect">
            <a:avLst>
              <a:gd name="adj" fmla="val 4000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5" name="Oval 17424"/>
          <p:cNvSpPr/>
          <p:nvPr/>
        </p:nvSpPr>
        <p:spPr>
          <a:xfrm>
            <a:off x="8308847" y="2665476"/>
            <a:ext cx="123444" cy="123444"/>
          </a:xfrm>
          <a:prstGeom prst="ellipse">
            <a:avLst/>
          </a:prstGeom>
          <a:solidFill>
            <a:srgbClr val="0C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6" name="TextBox 17425"/>
          <p:cNvSpPr txBox="1"/>
          <p:nvPr/>
        </p:nvSpPr>
        <p:spPr>
          <a:xfrm>
            <a:off x="8491728" y="2578608"/>
            <a:ext cx="3112008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0C7C8A"/>
                </a:solidFill>
                <a:latin typeface="Calibri"/>
              </a:rPr>
              <a:t>SOCIAL &amp; STRATEGIC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8308847" y="2926080"/>
            <a:ext cx="3258312" cy="186537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 marL="146304" indent="-146304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Font typeface="Arial"/>
              <a:buChar char="•"/>
            </a:pPr>
            <a:r>
              <a:rPr sz="1100" b="0">
                <a:solidFill>
                  <a:srgbClr val="1E2833"/>
                </a:solidFill>
                <a:latin typeface="Calibri"/>
              </a:rPr>
              <a:t>Cleaner air in coastal cities and port communities</a:t>
            </a:r>
          </a:p>
          <a:p>
            <a:pPr algn="l" marL="146304" indent="-146304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Font typeface="Arial"/>
              <a:buChar char="•"/>
            </a:pPr>
            <a:r>
              <a:rPr sz="1100" b="0">
                <a:solidFill>
                  <a:srgbClr val="1E2833"/>
                </a:solidFill>
                <a:latin typeface="Calibri"/>
              </a:rPr>
              <a:t>Transparent, auditable decisions a regulator can check</a:t>
            </a:r>
          </a:p>
          <a:p>
            <a:pPr algn="l" marL="146304" indent="-146304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Font typeface="Arial"/>
              <a:buChar char="•"/>
            </a:pPr>
            <a:r>
              <a:rPr sz="1100" b="0">
                <a:solidFill>
                  <a:srgbClr val="1E2833"/>
                </a:solidFill>
                <a:latin typeface="Calibri"/>
              </a:rPr>
              <a:t>Scales from 20 to 60+ vessels with no redesign</a:t>
            </a:r>
          </a:p>
          <a:p>
            <a:pPr algn="l" marL="146304" indent="-146304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Font typeface="Arial"/>
              <a:buChar char="•"/>
            </a:pPr>
            <a:r>
              <a:rPr sz="1100" b="0">
                <a:solidFill>
                  <a:srgbClr val="1E2833"/>
                </a:solidFill>
                <a:latin typeface="Calibri"/>
              </a:rPr>
              <a:t>Strengthens India’s maritime and logistics competitiveness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457200" y="5102352"/>
            <a:ext cx="11274552" cy="566928"/>
          </a:xfrm>
          <a:prstGeom prst="roundRect">
            <a:avLst>
              <a:gd name="adj" fmla="val 4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9" name="TextBox 17428"/>
          <p:cNvSpPr txBox="1"/>
          <p:nvPr/>
        </p:nvSpPr>
        <p:spPr>
          <a:xfrm>
            <a:off x="621792" y="5157216"/>
            <a:ext cx="10945368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9CC3E0"/>
                </a:solidFill>
                <a:latin typeface="Calibri"/>
              </a:rPr>
              <a:t>Who benefits:   </a:t>
            </a:r>
            <a:r>
              <a:rPr sz="1150" b="0">
                <a:solidFill>
                  <a:srgbClr val="FFFFFF"/>
                </a:solidFill>
                <a:latin typeface="Calibri"/>
              </a:rPr>
              <a:t>shipping and fleet operators  ·  charterers  ·  port and logistics planners  ·  maritime regulators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B2545"/>
                </a:solidFill>
              </a:rPr>
              <a:t>[Team Name]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457200" y="1298448"/>
            <a:ext cx="3587496" cy="2834640"/>
          </a:xfrm>
          <a:prstGeom prst="roundRect">
            <a:avLst>
              <a:gd name="adj" fmla="val 4000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1" name="Oval 17410"/>
          <p:cNvSpPr/>
          <p:nvPr/>
        </p:nvSpPr>
        <p:spPr>
          <a:xfrm>
            <a:off x="621792" y="1513331"/>
            <a:ext cx="123444" cy="123444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804672" y="1426464"/>
            <a:ext cx="3112008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0B2545"/>
                </a:solidFill>
                <a:latin typeface="Calibri"/>
              </a:rPr>
              <a:t>REGULATION &amp; STANDARDS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621792" y="1773936"/>
            <a:ext cx="3258312" cy="22128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 marL="146304" indent="-146304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Font typeface="Arial"/>
              <a:buChar char="•"/>
            </a:pPr>
            <a:r>
              <a:rPr sz="1050" b="0">
                <a:solidFill>
                  <a:srgbClr val="1E2833"/>
                </a:solidFill>
                <a:latin typeface="Calibri"/>
              </a:rPr>
              <a:t>IMO MEPC.353(78) — CII reference lines</a:t>
            </a:r>
          </a:p>
          <a:p>
            <a:pPr algn="l" marL="146304" indent="-146304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Font typeface="Arial"/>
              <a:buChar char="•"/>
            </a:pPr>
            <a:r>
              <a:rPr sz="1050" b="0">
                <a:solidFill>
                  <a:srgbClr val="1E2833"/>
                </a:solidFill>
                <a:latin typeface="Calibri"/>
              </a:rPr>
              <a:t>IMO MEPC.354(78) — CII rating boundaries</a:t>
            </a:r>
          </a:p>
          <a:p>
            <a:pPr algn="l" marL="146304" indent="-146304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Font typeface="Arial"/>
              <a:buChar char="•"/>
            </a:pPr>
            <a:r>
              <a:rPr sz="1050" b="0">
                <a:solidFill>
                  <a:srgbClr val="1E2833"/>
                </a:solidFill>
                <a:latin typeface="Calibri"/>
              </a:rPr>
              <a:t>IMO MEPC.338(76) — annual reduction factors</a:t>
            </a:r>
          </a:p>
          <a:p>
            <a:pPr algn="l" marL="146304" indent="-146304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Font typeface="Arial"/>
              <a:buChar char="•"/>
            </a:pPr>
            <a:r>
              <a:rPr sz="1050" b="0">
                <a:solidFill>
                  <a:srgbClr val="1E2833"/>
                </a:solidFill>
                <a:latin typeface="Calibri"/>
              </a:rPr>
              <a:t>MARPOL Annex VI — 0.10% ECA sulphur cap</a:t>
            </a:r>
          </a:p>
          <a:p>
            <a:pPr algn="l" marL="146304" indent="-146304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Font typeface="Arial"/>
              <a:buChar char="•"/>
            </a:pPr>
            <a:r>
              <a:rPr sz="1050" b="0">
                <a:solidFill>
                  <a:srgbClr val="1E2833"/>
                </a:solidFill>
                <a:latin typeface="Calibri"/>
              </a:rPr>
              <a:t>IMO 2023 GHG Strategy — net-zero by ~2050</a:t>
            </a:r>
          </a:p>
          <a:p>
            <a:pPr algn="l" marL="146304" indent="-146304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Font typeface="Arial"/>
              <a:buChar char="•"/>
            </a:pPr>
            <a:r>
              <a:rPr sz="1050" b="0">
                <a:solidFill>
                  <a:srgbClr val="1E2833"/>
                </a:solidFill>
                <a:latin typeface="Calibri"/>
              </a:rPr>
              <a:t>IMO MEPC.355(78) — CII correction factors (noted, not applied)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4300728" y="1298448"/>
            <a:ext cx="3587496" cy="2834640"/>
          </a:xfrm>
          <a:prstGeom prst="roundRect">
            <a:avLst>
              <a:gd name="adj" fmla="val 4000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5" name="Oval 17414"/>
          <p:cNvSpPr/>
          <p:nvPr/>
        </p:nvSpPr>
        <p:spPr>
          <a:xfrm>
            <a:off x="4465320" y="1513331"/>
            <a:ext cx="123444" cy="123444"/>
          </a:xfrm>
          <a:prstGeom prst="ellipse">
            <a:avLst/>
          </a:prstGeom>
          <a:solidFill>
            <a:srgbClr val="1161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TextBox 17415"/>
          <p:cNvSpPr txBox="1"/>
          <p:nvPr/>
        </p:nvSpPr>
        <p:spPr>
          <a:xfrm>
            <a:off x="4648200" y="1426464"/>
            <a:ext cx="3112008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11618F"/>
                </a:solidFill>
                <a:latin typeface="Calibri"/>
              </a:rPr>
              <a:t>ALGORITHMS &amp; METHODS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4465320" y="1773936"/>
            <a:ext cx="3258312" cy="22128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 marL="146304" indent="-146304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Font typeface="Arial"/>
              <a:buChar char="•"/>
            </a:pPr>
            <a:r>
              <a:rPr sz="1050" b="0">
                <a:solidFill>
                  <a:srgbClr val="1E2833"/>
                </a:solidFill>
                <a:latin typeface="Calibri"/>
              </a:rPr>
              <a:t>Sun, Feng &amp; Xu (2004) — quantum-behaved PSO</a:t>
            </a:r>
          </a:p>
          <a:p>
            <a:pPr algn="l" marL="146304" indent="-146304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Font typeface="Arial"/>
              <a:buChar char="•"/>
            </a:pPr>
            <a:r>
              <a:rPr sz="1050" b="0">
                <a:solidFill>
                  <a:srgbClr val="1E2833"/>
                </a:solidFill>
                <a:latin typeface="Calibri"/>
              </a:rPr>
              <a:t>Quantum-inspired genetic algorithms (qubit registers)</a:t>
            </a:r>
          </a:p>
          <a:p>
            <a:pPr algn="l" marL="146304" indent="-146304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Font typeface="Arial"/>
              <a:buChar char="•"/>
            </a:pPr>
            <a:r>
              <a:rPr sz="1050" b="0">
                <a:solidFill>
                  <a:srgbClr val="1E2833"/>
                </a:solidFill>
                <a:latin typeface="Calibri"/>
              </a:rPr>
              <a:t>Deb et al. (2002) — NSGA-II, IEEE Trans. Evol. Comput.</a:t>
            </a:r>
          </a:p>
          <a:p>
            <a:pPr algn="l" marL="146304" indent="-146304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Font typeface="Arial"/>
              <a:buChar char="•"/>
            </a:pPr>
            <a:r>
              <a:rPr sz="1050" b="0">
                <a:solidFill>
                  <a:srgbClr val="1E2833"/>
                </a:solidFill>
                <a:latin typeface="Calibri"/>
              </a:rPr>
              <a:t>Chen &amp; Guestrin (2016) — XGBoost, KDD</a:t>
            </a:r>
          </a:p>
          <a:p>
            <a:pPr algn="l" marL="146304" indent="-146304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Font typeface="Arial"/>
              <a:buChar char="•"/>
            </a:pPr>
            <a:r>
              <a:rPr sz="1050" b="0">
                <a:solidFill>
                  <a:srgbClr val="1E2833"/>
                </a:solidFill>
                <a:latin typeface="Calibri"/>
              </a:rPr>
              <a:t>Cubic speed–power law for propulsion fuel</a:t>
            </a:r>
          </a:p>
          <a:p>
            <a:pPr algn="l" marL="146304" indent="-146304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Font typeface="Arial"/>
              <a:buChar char="•"/>
            </a:pPr>
            <a:r>
              <a:rPr sz="1050" b="0">
                <a:solidFill>
                  <a:srgbClr val="1E2833"/>
                </a:solidFill>
                <a:latin typeface="Calibri"/>
              </a:rPr>
              <a:t>Kennedy &amp; Eberhart (1995) — original particle swarm optimisation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8144256" y="1298448"/>
            <a:ext cx="3587496" cy="2834640"/>
          </a:xfrm>
          <a:prstGeom prst="roundRect">
            <a:avLst>
              <a:gd name="adj" fmla="val 4000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9" name="Oval 17418"/>
          <p:cNvSpPr/>
          <p:nvPr/>
        </p:nvSpPr>
        <p:spPr>
          <a:xfrm>
            <a:off x="8308847" y="1513331"/>
            <a:ext cx="123444" cy="123444"/>
          </a:xfrm>
          <a:prstGeom prst="ellipse">
            <a:avLst/>
          </a:prstGeom>
          <a:solidFill>
            <a:srgbClr val="0C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TextBox 17419"/>
          <p:cNvSpPr txBox="1"/>
          <p:nvPr/>
        </p:nvSpPr>
        <p:spPr>
          <a:xfrm>
            <a:off x="8491728" y="1426464"/>
            <a:ext cx="3112008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0C7C8A"/>
                </a:solidFill>
                <a:latin typeface="Calibri"/>
              </a:rPr>
              <a:t>DATA &amp; TOOLING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8308847" y="1773936"/>
            <a:ext cx="3258312" cy="22128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 marL="146304" indent="-146304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Font typeface="Arial"/>
              <a:buChar char="•"/>
            </a:pPr>
            <a:r>
              <a:rPr sz="1050" b="0">
                <a:solidFill>
                  <a:srgbClr val="1E2833"/>
                </a:solidFill>
                <a:latin typeface="Calibri"/>
              </a:rPr>
              <a:t>Natural Earth — public-domain coastline data</a:t>
            </a:r>
          </a:p>
          <a:p>
            <a:pPr algn="l" marL="146304" indent="-146304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Font typeface="Arial"/>
              <a:buChar char="•"/>
            </a:pPr>
            <a:r>
              <a:rPr sz="1050" b="0">
                <a:solidFill>
                  <a:srgbClr val="1E2833"/>
                </a:solidFill>
                <a:latin typeface="Calibri"/>
              </a:rPr>
              <a:t>IMO / MARPOL published fuel and emission factors</a:t>
            </a:r>
          </a:p>
          <a:p>
            <a:pPr algn="l" marL="146304" indent="-146304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Font typeface="Arial"/>
              <a:buChar char="•"/>
            </a:pPr>
            <a:r>
              <a:rPr sz="1050" b="0">
                <a:solidFill>
                  <a:srgbClr val="1E2833"/>
                </a:solidFill>
                <a:latin typeface="Calibri"/>
              </a:rPr>
              <a:t>FastAPI, scikit-learn and React documentation</a:t>
            </a:r>
          </a:p>
          <a:p>
            <a:pPr algn="l" marL="146304" indent="-146304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Font typeface="Arial"/>
              <a:buChar char="•"/>
            </a:pPr>
            <a:r>
              <a:rPr sz="1050" b="0">
                <a:solidFill>
                  <a:srgbClr val="1E2833"/>
                </a:solidFill>
                <a:latin typeface="Calibri"/>
              </a:rPr>
              <a:t>Sea-route waypoints via published shipping lanes</a:t>
            </a:r>
          </a:p>
          <a:p>
            <a:pPr algn="l" marL="146304" indent="-146304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Font typeface="Arial"/>
              <a:buChar char="•"/>
            </a:pPr>
            <a:r>
              <a:rPr sz="1050" b="0">
                <a:solidFill>
                  <a:srgbClr val="1E2833"/>
                </a:solidFill>
                <a:latin typeface="Calibri"/>
              </a:rPr>
              <a:t>All constants reproduced and unit-tested in code</a:t>
            </a:r>
          </a:p>
          <a:p>
            <a:pPr algn="l" marL="146304" indent="-146304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Font typeface="Arial"/>
              <a:buChar char="•"/>
            </a:pPr>
            <a:r>
              <a:rPr sz="1050" b="0">
                <a:solidFill>
                  <a:srgbClr val="1E2833"/>
                </a:solidFill>
                <a:latin typeface="Calibri"/>
              </a:rPr>
              <a:t>world-atlas / TopoJSON — projection source for the map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457200" y="4389120"/>
            <a:ext cx="11274552" cy="685800"/>
          </a:xfrm>
          <a:prstGeom prst="roundRect">
            <a:avLst>
              <a:gd name="adj" fmla="val 4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3" name="TextBox 17422"/>
          <p:cNvSpPr txBox="1"/>
          <p:nvPr/>
        </p:nvSpPr>
        <p:spPr>
          <a:xfrm>
            <a:off x="621792" y="4443983"/>
            <a:ext cx="10945368" cy="5760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9CC3E0"/>
                </a:solidFill>
                <a:latin typeface="Calibri"/>
              </a:rPr>
              <a:t>Project repository:   </a:t>
            </a:r>
            <a:r>
              <a:rPr sz="1200" b="0">
                <a:solidFill>
                  <a:srgbClr val="FFFFFF"/>
                </a:solidFill>
                <a:latin typeface="Calibri"/>
              </a:rPr>
              <a:t>github.com/vivek1234-byte/Qfleet_Optimization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