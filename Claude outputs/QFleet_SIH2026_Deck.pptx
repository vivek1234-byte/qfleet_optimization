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8" r:id="rId14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 algn="ctr"/>
            <a:r>
              <a:rPr sz="5400" b="0">
                <a:solidFill>
                  <a:srgbClr val="44546A"/>
                </a:solidFill>
                <a:latin typeface="Calibri Light"/>
              </a:rPr>
              <a:t>QFLEET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icture 37" descr="g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28016"/>
            <a:ext cx="941294" cy="9144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66928" y="2084831"/>
            <a:ext cx="594360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44546A"/>
                </a:solidFill>
                <a:latin typeface="Calibri"/>
              </a:rPr>
              <a:t>PROBLEM STATEMENT</a:t>
            </a:r>
            <a:r>
              <a:rPr sz="1400" b="0" i="0">
                <a:solidFill>
                  <a:srgbClr val="3F3F3F"/>
                </a:solidFill>
                <a:latin typeface="Calibri"/>
              </a:rPr>
              <a:t>  -  </a:t>
            </a:r>
            <a:r>
              <a:rPr sz="1400" b="0" i="0">
                <a:solidFill>
                  <a:srgbClr val="3F3F3F"/>
                </a:solidFill>
                <a:latin typeface="Calibri"/>
              </a:rPr>
              <a:t>Quantum-inspired fuel consumption prediction and green fleet optimization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520440"/>
            <a:ext cx="59436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spc="120">
                <a:solidFill>
                  <a:srgbClr val="44546A"/>
                </a:solidFill>
                <a:latin typeface="Calibri"/>
              </a:rPr>
              <a:t>TEAM MEMBERS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3950208"/>
            <a:ext cx="2743200" cy="21031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4546A"/>
                </a:solidFill>
                <a:latin typeface="Calibri"/>
              </a:rPr>
              <a:t>Vivek Prasad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4546A"/>
                </a:solidFill>
                <a:latin typeface="Calibri"/>
              </a:rPr>
              <a:t>Roll No - </a:t>
            </a:r>
            <a:r>
              <a:rPr sz="1150" b="0" i="0">
                <a:solidFill>
                  <a:srgbClr val="3F3F3F"/>
                </a:solidFill>
                <a:latin typeface="Calibri"/>
              </a:rPr>
              <a:t>2415001815</a:t>
            </a:r>
          </a:p>
          <a:p>
            <a:pPr algn="l" marL="0" indent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4546A"/>
                </a:solidFill>
                <a:latin typeface="Calibri"/>
              </a:rPr>
              <a:t>Ankit Pandey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4546A"/>
                </a:solidFill>
                <a:latin typeface="Calibri"/>
              </a:rPr>
              <a:t>Roll No - </a:t>
            </a:r>
            <a:r>
              <a:rPr sz="1150" b="0" i="0">
                <a:solidFill>
                  <a:srgbClr val="3F3F3F"/>
                </a:solidFill>
                <a:latin typeface="Calibri"/>
              </a:rPr>
              <a:t>2415000234</a:t>
            </a:r>
          </a:p>
          <a:p>
            <a:pPr algn="l" marL="0" indent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4546A"/>
                </a:solidFill>
                <a:latin typeface="Calibri"/>
              </a:rPr>
              <a:t>Krishna Khandelwal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4546A"/>
                </a:solidFill>
                <a:latin typeface="Calibri"/>
              </a:rPr>
              <a:t>Roll No - </a:t>
            </a:r>
            <a:r>
              <a:rPr sz="1150" b="0" i="0">
                <a:solidFill>
                  <a:srgbClr val="3F3F3F"/>
                </a:solidFill>
                <a:latin typeface="Calibri"/>
              </a:rPr>
              <a:t>2415000841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9000" y="3950208"/>
            <a:ext cx="2743200" cy="21031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4546A"/>
                </a:solidFill>
                <a:latin typeface="Calibri"/>
              </a:rPr>
              <a:t>Anshika Singh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4546A"/>
                </a:solidFill>
                <a:latin typeface="Calibri"/>
              </a:rPr>
              <a:t>Roll No - </a:t>
            </a:r>
            <a:r>
              <a:rPr sz="1150" b="0" i="0">
                <a:solidFill>
                  <a:srgbClr val="3F3F3F"/>
                </a:solidFill>
                <a:latin typeface="Calibri"/>
              </a:rPr>
              <a:t>2415000265</a:t>
            </a:r>
          </a:p>
          <a:p>
            <a:pPr algn="l" marL="0" indent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4546A"/>
                </a:solidFill>
                <a:latin typeface="Calibri"/>
              </a:rPr>
              <a:t>Aniket Singh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4546A"/>
                </a:solidFill>
                <a:latin typeface="Calibri"/>
              </a:rPr>
              <a:t>Roll No - </a:t>
            </a:r>
            <a:r>
              <a:rPr sz="1150" b="0" i="0">
                <a:solidFill>
                  <a:srgbClr val="3F3F3F"/>
                </a:solidFill>
                <a:latin typeface="Calibri"/>
              </a:rPr>
              <a:t>2415000216</a:t>
            </a:r>
          </a:p>
          <a:p>
            <a:pPr algn="l" marL="0" indent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4546A"/>
                </a:solidFill>
                <a:latin typeface="Calibri"/>
              </a:rPr>
              <a:t>Devanshi Chauhan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4546A"/>
                </a:solidFill>
                <a:latin typeface="Calibri"/>
              </a:rPr>
              <a:t>Roll No - </a:t>
            </a:r>
            <a:r>
              <a:rPr sz="1150" b="0" i="0">
                <a:solidFill>
                  <a:srgbClr val="3F3F3F"/>
                </a:solidFill>
                <a:latin typeface="Calibri"/>
              </a:rPr>
              <a:t>2415000511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2" name="Picture 15361" descr="g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"/>
            <a:ext cx="865991" cy="841248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2377440" y="365760"/>
            <a:ext cx="7498079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595959"/>
                </a:solidFill>
                <a:latin typeface="Calibri"/>
              </a:rPr>
              <a:t>Problem background • relevance • impact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566928" y="1325880"/>
            <a:ext cx="1106424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>
                <a:solidFill>
                  <a:srgbClr val="5A6B82"/>
                </a:solidFill>
                <a:latin typeface="Calibri"/>
              </a:rPr>
              <a:t>❖  </a:t>
            </a:r>
            <a:r>
              <a:rPr sz="2900" b="1" i="0">
                <a:solidFill>
                  <a:srgbClr val="44546A"/>
                </a:solidFill>
                <a:latin typeface="Calibri"/>
              </a:rPr>
              <a:t>WHY THIS PROBLEM?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566928" y="2194560"/>
            <a:ext cx="52578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spc="120">
                <a:solidFill>
                  <a:srgbClr val="44546A"/>
                </a:solidFill>
                <a:latin typeface="Calibri"/>
              </a:rPr>
              <a:t>THE PROBLEM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566928" y="2505456"/>
            <a:ext cx="5257800" cy="1371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Cost, well-to-wake GHG and schedule reliability are traded off ad hoc by dispatchers — not jointly optimized.</a:t>
            </a:r>
          </a:p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Optimizing any one variable alone (just speed, or just fuel) leaves cost or emissions gains on the table.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566928" y="3977639"/>
            <a:ext cx="52578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spc="120">
                <a:solidFill>
                  <a:srgbClr val="44546A"/>
                </a:solidFill>
                <a:latin typeface="Calibri"/>
              </a:rPr>
              <a:t>WHY IT MATTERS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566928" y="4288536"/>
            <a:ext cx="5257800" cy="1371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IMO CII, EU ETS and FuelEU are now mandatory reporting lines for every vessel.</a:t>
            </a:r>
          </a:p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Carbon is priced directly into operations at ~€85 per tonne — inefficiency is now a compliance cost.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spc="120">
                <a:solidFill>
                  <a:srgbClr val="44546A"/>
                </a:solidFill>
                <a:latin typeface="Calibri"/>
              </a:rPr>
              <a:t>WHY IT IS HARD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6355080" y="2505456"/>
            <a:ext cx="5257800" cy="23774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Fuel per hour ∝ V³ — the speed–fuel relationship is non-convex.</a:t>
            </a:r>
          </a:p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≈ 19% fuel and CO₂ saved by a modest speed reduction (slow steaming).</a:t>
            </a:r>
          </a:p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But slower ships need more vessels to hold the same schedule.</a:t>
            </a:r>
          </a:p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Speed, fuel choice and fleet size interact — the trade-off is non-trivial.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731520" y="6382512"/>
            <a:ext cx="1069848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1">
                <a:solidFill>
                  <a:srgbClr val="FFFFFF"/>
                </a:solidFill>
                <a:latin typeface="Calibri"/>
              </a:rPr>
              <a:t>Cost, emissions and schedule reliability collide in one decision — it has to be optimized, not guessed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g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"/>
            <a:ext cx="865991" cy="841248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2377440" y="365760"/>
            <a:ext cx="7498079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595959"/>
                </a:solidFill>
                <a:latin typeface="Calibri"/>
              </a:rPr>
              <a:t>Current approaches and their limitations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66928" y="1325880"/>
            <a:ext cx="1106424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>
                <a:solidFill>
                  <a:srgbClr val="5A6B82"/>
                </a:solidFill>
                <a:latin typeface="Calibri"/>
              </a:rPr>
              <a:t>❖  </a:t>
            </a:r>
            <a:r>
              <a:rPr sz="2900" b="1" i="0">
                <a:solidFill>
                  <a:srgbClr val="44546A"/>
                </a:solidFill>
                <a:latin typeface="Calibri"/>
              </a:rPr>
              <a:t>EXISTING SOLUTIONS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66928" y="2148840"/>
            <a:ext cx="1106424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spc="120">
                <a:solidFill>
                  <a:srgbClr val="44546A"/>
                </a:solidFill>
                <a:latin typeface="Calibri"/>
              </a:rPr>
              <a:t>CLASSICAL MILP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66928" y="2459736"/>
            <a:ext cx="11064240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Linear / mixed-integer formulations used for fleet planning at scale.</a:t>
            </a:r>
          </a:p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1" i="0">
                <a:solidFill>
                  <a:srgbClr val="1F77C1"/>
                </a:solidFill>
                <a:latin typeface="Calibri"/>
              </a:rPr>
              <a:t>Gap: </a:t>
            </a:r>
            <a:r>
              <a:rPr sz="1150" b="0" i="0">
                <a:solidFill>
                  <a:srgbClr val="3F3F3F"/>
                </a:solidFill>
                <a:latin typeface="Calibri"/>
              </a:rPr>
              <a:t>cannot represent the non-convex V³ speed–fuel relationship — they over-simplify the physics or time out.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66928" y="3429000"/>
            <a:ext cx="1106424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spc="120">
                <a:solidFill>
                  <a:srgbClr val="44546A"/>
                </a:solidFill>
                <a:latin typeface="Calibri"/>
              </a:rPr>
              <a:t>CLASSICAL ML BASELINES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66928" y="3739896"/>
            <a:ext cx="11064240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XGBoost / LightGBM predict fuel consumption well in isolation.</a:t>
            </a:r>
          </a:p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1" i="0">
                <a:solidFill>
                  <a:srgbClr val="1F77C1"/>
                </a:solidFill>
                <a:latin typeface="Calibri"/>
              </a:rPr>
              <a:t>Gap: </a:t>
            </a:r>
            <a:r>
              <a:rPr sz="1150" b="0" i="0">
                <a:solidFill>
                  <a:srgbClr val="3F3F3F"/>
                </a:solidFill>
                <a:latin typeface="Calibri"/>
              </a:rPr>
              <a:t>they only forecast — they don’t jointly decide speed, fuel and deployment.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66928" y="4709160"/>
            <a:ext cx="1106424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spc="120">
                <a:solidFill>
                  <a:srgbClr val="44546A"/>
                </a:solidFill>
                <a:latin typeface="Calibri"/>
              </a:rPr>
              <a:t>SINGLE-OBJECTIVE HEURISTICS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66928" y="5020056"/>
            <a:ext cx="11064240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GA / PSO variants used in practice optimize one objective (usually cost).</a:t>
            </a:r>
          </a:p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1" i="0">
                <a:solidFill>
                  <a:srgbClr val="1F77C1"/>
                </a:solidFill>
                <a:latin typeface="Calibri"/>
              </a:rPr>
              <a:t>Gap: </a:t>
            </a:r>
            <a:r>
              <a:rPr sz="1150" b="0" i="0">
                <a:solidFill>
                  <a:srgbClr val="3F3F3F"/>
                </a:solidFill>
                <a:latin typeface="Calibri"/>
              </a:rPr>
              <a:t>emissions are bolted on afterward — no true Pareto trade-off between cost, GHG and reliability.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731520" y="6382512"/>
            <a:ext cx="1069848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1">
                <a:solidFill>
                  <a:srgbClr val="FFFFFF"/>
                </a:solidFill>
                <a:latin typeface="Calibri"/>
              </a:rPr>
              <a:t>No existing approach jointly decides speed, fuel and fleet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g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"/>
            <a:ext cx="865991" cy="841248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2377440" y="365760"/>
            <a:ext cx="7498079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595959"/>
                </a:solidFill>
                <a:latin typeface="Calibri"/>
              </a:rPr>
              <a:t>A quantum-inspired end-to-end platform for greener fleet operations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66928" y="1325880"/>
            <a:ext cx="1106424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>
                <a:solidFill>
                  <a:srgbClr val="5A6B82"/>
                </a:solidFill>
                <a:latin typeface="Calibri"/>
              </a:rPr>
              <a:t>❖  </a:t>
            </a:r>
            <a:r>
              <a:rPr sz="2900" b="1" i="0">
                <a:solidFill>
                  <a:srgbClr val="44546A"/>
                </a:solidFill>
                <a:latin typeface="Calibri"/>
              </a:rPr>
              <a:t>PROPOSED SOLUTION — QFLEET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66928" y="2176272"/>
            <a:ext cx="11064240" cy="1920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77C1"/>
                </a:solidFill>
                <a:latin typeface="Calibri"/>
              </a:rPr>
              <a:t>1. ASSIGN — </a:t>
            </a:r>
            <a:r>
              <a:rPr sz="1250" b="0" i="0">
                <a:solidFill>
                  <a:srgbClr val="3F3F3F"/>
                </a:solidFill>
                <a:latin typeface="Calibri"/>
              </a:rPr>
              <a:t>QIEA assigns vessels, routes and fuels — the discrete decisions.</a:t>
            </a:r>
          </a:p>
          <a:p>
            <a:pPr algn="l" marL="0" indent="0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77C1"/>
                </a:solidFill>
                <a:latin typeface="Calibri"/>
              </a:rPr>
              <a:t>2. TUNE — </a:t>
            </a:r>
            <a:r>
              <a:rPr sz="1250" b="0" i="0">
                <a:solidFill>
                  <a:srgbClr val="3F3F3F"/>
                </a:solidFill>
                <a:latin typeface="Calibri"/>
              </a:rPr>
              <a:t>QPSO tunes sailing speed (continuous) inside the same optimization loop.</a:t>
            </a:r>
          </a:p>
          <a:p>
            <a:pPr algn="l" marL="0" indent="0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77C1"/>
                </a:solidFill>
                <a:latin typeface="Calibri"/>
              </a:rPr>
              <a:t>3. EVOLVE — </a:t>
            </a:r>
            <a:r>
              <a:rPr sz="1250" b="0" i="0">
                <a:solidFill>
                  <a:srgbClr val="3F3F3F"/>
                </a:solidFill>
                <a:latin typeface="Calibri"/>
              </a:rPr>
              <a:t>Q-NSGA-II evolves a full Pareto front across cost, well-to-wake GHG and schedule reliability — operators pick the trade-off they want.</a:t>
            </a:r>
          </a:p>
          <a:p>
            <a:pPr algn="l" marL="0" indent="0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77C1"/>
                </a:solidFill>
                <a:latin typeface="Calibri"/>
              </a:rPr>
              <a:t>4. COMPLY — </a:t>
            </a:r>
            <a:r>
              <a:rPr sz="1250" b="0" i="0">
                <a:solidFill>
                  <a:srgbClr val="3F3F3F"/>
                </a:solidFill>
                <a:latin typeface="Calibri"/>
              </a:rPr>
              <a:t>Every Pareto point ships with its CII rating, EEXI pass/fail and FuelEU gap already computed.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66928" y="4617720"/>
            <a:ext cx="1106424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spc="120">
                <a:solidFill>
                  <a:srgbClr val="44546A"/>
                </a:solidFill>
                <a:latin typeface="Calibri"/>
              </a:rPr>
              <a:t>GROUNDED IN REAL PHYSICS — NOT A BLACK BOX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66928" y="4928616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Built on the admiralty V³ law and resistance modelling — hull fouling, draft and sea state.</a:t>
            </a:r>
          </a:p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Full tank-to-wake → well-to-wake emissions accounting for every candidate solution.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31520" y="6382512"/>
            <a:ext cx="1069848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1">
                <a:solidFill>
                  <a:srgbClr val="FFFFFF"/>
                </a:solidFill>
                <a:latin typeface="Calibri"/>
              </a:rPr>
              <a:t>One loop — assign, tune, evolve, comply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g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"/>
            <a:ext cx="865991" cy="841248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2377440" y="365760"/>
            <a:ext cx="7498079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595959"/>
                </a:solidFill>
                <a:latin typeface="Calibri"/>
              </a:rPr>
              <a:t>Technologies chosen for hackathon feasibility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66928" y="1325880"/>
            <a:ext cx="1106424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>
                <a:solidFill>
                  <a:srgbClr val="5A6B82"/>
                </a:solidFill>
                <a:latin typeface="Calibri"/>
              </a:rPr>
              <a:t>❖  </a:t>
            </a:r>
            <a:r>
              <a:rPr sz="2900" b="1" i="0">
                <a:solidFill>
                  <a:srgbClr val="44546A"/>
                </a:solidFill>
                <a:latin typeface="Calibri"/>
              </a:rPr>
              <a:t>TECH STACK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66928" y="2212848"/>
            <a:ext cx="23317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4546A"/>
                </a:solidFill>
                <a:latin typeface="Calibri"/>
              </a:rPr>
              <a:t>Optimization Core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017520" y="2212848"/>
            <a:ext cx="2788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F77C1"/>
                </a:solidFill>
                <a:latin typeface="Calibri"/>
              </a:rPr>
              <a:t>pymoo · pyqubo · dwave-neal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989320" y="2212848"/>
            <a:ext cx="562356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3F3F3F"/>
                </a:solidFill>
                <a:latin typeface="Calibri"/>
              </a:rPr>
              <a:t>Hardware-ready QUBO; simulated annealing keeps demo runtime deterministic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66928" y="2852928"/>
            <a:ext cx="23317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4546A"/>
                </a:solidFill>
                <a:latin typeface="Calibri"/>
              </a:rPr>
              <a:t>Quantum-Inspired ML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017520" y="2852928"/>
            <a:ext cx="2788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F77C1"/>
                </a:solidFill>
                <a:latin typeface="Calibri"/>
              </a:rPr>
              <a:t>PennyLane · Qiskit-Aer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989320" y="2852928"/>
            <a:ext cx="562356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3F3F3F"/>
                </a:solidFill>
                <a:latin typeface="Calibri"/>
              </a:rPr>
              <a:t>Small statevector circuits (≤10 qubits) as feature maps — fast to simulate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566928" y="3493008"/>
            <a:ext cx="23317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4546A"/>
                </a:solidFill>
                <a:latin typeface="Calibri"/>
              </a:rPr>
              <a:t>Classical ML Baseline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017520" y="3493008"/>
            <a:ext cx="2788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F77C1"/>
                </a:solidFill>
                <a:latin typeface="Calibri"/>
              </a:rPr>
              <a:t>XGBoost · LightGBM · SHAP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5989320" y="3493008"/>
            <a:ext cx="562356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3F3F3F"/>
                </a:solidFill>
                <a:latin typeface="Calibri"/>
              </a:rPr>
              <a:t>The benchmark QFleet has to beat, with SHAP plots for interpretability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566928" y="4133087"/>
            <a:ext cx="23317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4546A"/>
                </a:solidFill>
                <a:latin typeface="Calibri"/>
              </a:rPr>
              <a:t>Data Pipeline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3017520" y="4133087"/>
            <a:ext cx="2788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F77C1"/>
                </a:solidFill>
                <a:latin typeface="Calibri"/>
              </a:rPr>
              <a:t>Polars · GeoPandas · Xarray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5989320" y="4133087"/>
            <a:ext cx="562356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3F3F3F"/>
                </a:solidFill>
                <a:latin typeface="Calibri"/>
              </a:rPr>
              <a:t>AIS + Copernicus weather at scale, stored in Parquet — not CSV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66928" y="4773168"/>
            <a:ext cx="23317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4546A"/>
                </a:solidFill>
                <a:latin typeface="Calibri"/>
              </a:rPr>
              <a:t>Backend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3017520" y="4773168"/>
            <a:ext cx="2788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F77C1"/>
                </a:solidFill>
                <a:latin typeface="Calibri"/>
              </a:rPr>
              <a:t>FastAPI · Celery · Redis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989320" y="4773168"/>
            <a:ext cx="562356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3F3F3F"/>
                </a:solidFill>
                <a:latin typeface="Calibri"/>
              </a:rPr>
              <a:t>Optimization runs (2–5 min) go to an async job queue, never a blocking request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66928" y="5413248"/>
            <a:ext cx="23317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4546A"/>
                </a:solidFill>
                <a:latin typeface="Calibri"/>
              </a:rPr>
              <a:t>Reporting &amp; Infra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3017520" y="5413248"/>
            <a:ext cx="2788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F77C1"/>
                </a:solidFill>
                <a:latin typeface="Calibri"/>
              </a:rPr>
              <a:t>WeasyPrint · Docker Compose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5989320" y="5413248"/>
            <a:ext cx="562356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3F3F3F"/>
                </a:solidFill>
                <a:latin typeface="Calibri"/>
              </a:rPr>
              <a:t>Auto-generated CII / EEXI / FuelEU compliance PDFs; one command boots the stack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731520" y="6382512"/>
            <a:ext cx="1069848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1">
                <a:solidFill>
                  <a:srgbClr val="FFFFFF"/>
                </a:solidFill>
                <a:latin typeface="Calibri"/>
              </a:rPr>
              <a:t>Runs entirely on a laptop — quantum-ready, classically executed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g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"/>
            <a:ext cx="865991" cy="841248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2377440" y="365760"/>
            <a:ext cx="7498079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595959"/>
                </a:solidFill>
                <a:latin typeface="Calibri"/>
              </a:rPr>
              <a:t>Growth path, environmental impact and how we measure it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66928" y="1325880"/>
            <a:ext cx="1106424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>
                <a:solidFill>
                  <a:srgbClr val="5A6B82"/>
                </a:solidFill>
                <a:latin typeface="Calibri"/>
              </a:rPr>
              <a:t>❖  </a:t>
            </a:r>
            <a:r>
              <a:rPr sz="2900" b="1" i="0">
                <a:solidFill>
                  <a:srgbClr val="44546A"/>
                </a:solidFill>
                <a:latin typeface="Calibri"/>
              </a:rPr>
              <a:t>SCALABILITY &amp; SUSTAINABILITY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66928" y="2212848"/>
            <a:ext cx="34290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spc="120">
                <a:solidFill>
                  <a:srgbClr val="44546A"/>
                </a:solidFill>
                <a:latin typeface="Calibri"/>
              </a:rPr>
              <a:t>SCALABILITY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66928" y="2523744"/>
            <a:ext cx="3429000" cy="23774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Contract-first architecture — teams scale independently against one shared JSON schema.</a:t>
            </a:r>
          </a:p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Async job queue (Celery + Redis) — ready for larger fleets and more routes.</a:t>
            </a:r>
          </a:p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QUBO is hardware-ready — real quantum annealers are a backend swap, not a redesign.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315968" y="2212848"/>
            <a:ext cx="34290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spc="120">
                <a:solidFill>
                  <a:srgbClr val="44546A"/>
                </a:solidFill>
                <a:latin typeface="Calibri"/>
              </a:rPr>
              <a:t>SUSTAINABILITY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315968" y="2523744"/>
            <a:ext cx="3429000" cy="23774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Multi-fuel scenario engine (VLSFO / MGO / LNG / methanol) tests real transition pathways.</a:t>
            </a:r>
          </a:p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Full well-to-wake accounting — including CH₄ and N₂O slip — no hidden upstream emissions.</a:t>
            </a:r>
          </a:p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Automatic CII / EEXI / FuelEU compliance — every recommendation is audit-ready.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8065008" y="2212848"/>
            <a:ext cx="34290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spc="120">
                <a:solidFill>
                  <a:srgbClr val="44546A"/>
                </a:solidFill>
                <a:latin typeface="Calibri"/>
              </a:rPr>
              <a:t>IMPACT METRICS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065008" y="2523744"/>
            <a:ext cx="3429000" cy="23774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Fuel cost per voyage</a:t>
            </a:r>
          </a:p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Well-to-wake CO₂e per route</a:t>
            </a:r>
          </a:p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CII rating distribution across the fleet</a:t>
            </a:r>
          </a:p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Schedule reliability (%)</a:t>
            </a:r>
          </a:p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EU ETS + FuelEU penalty exposure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731520" y="6382512"/>
            <a:ext cx="1069848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1">
                <a:solidFill>
                  <a:srgbClr val="FFFFFF"/>
                </a:solidFill>
                <a:latin typeface="Calibri"/>
              </a:rPr>
              <a:t>Start small, validate, then expand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2" name="Picture 15361" descr="g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304"/>
            <a:ext cx="865991" cy="841248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2377440" y="365760"/>
            <a:ext cx="7498079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595959"/>
                </a:solidFill>
                <a:latin typeface="Calibri"/>
              </a:rPr>
              <a:t>Future enhancements, applications and current constraints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566928" y="1325880"/>
            <a:ext cx="1106424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>
                <a:solidFill>
                  <a:srgbClr val="5A6B82"/>
                </a:solidFill>
                <a:latin typeface="Calibri"/>
              </a:rPr>
              <a:t>❖  </a:t>
            </a:r>
            <a:r>
              <a:rPr sz="2900" b="1" i="0">
                <a:solidFill>
                  <a:srgbClr val="44546A"/>
                </a:solidFill>
                <a:latin typeface="Calibri"/>
              </a:rPr>
              <a:t>FUTURE SCOPE &amp; LIMITATIONS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566928" y="2212848"/>
            <a:ext cx="52578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spc="120">
                <a:solidFill>
                  <a:srgbClr val="44546A"/>
                </a:solidFill>
                <a:latin typeface="Calibri"/>
              </a:rPr>
              <a:t>FUTURE SCOPE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566928" y="2523744"/>
            <a:ext cx="5257800" cy="2560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Full React + Tailwind dashboard beyond the Streamlit MVP.</a:t>
            </a:r>
          </a:p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Extend fuel modelling to hydrogen and ammonia, alongside LNG and methanol.</a:t>
            </a:r>
          </a:p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Execute the QUBO formulation on real quantum annealing hardware.</a:t>
            </a:r>
          </a:p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Live AIS and weather feeds for continuous, real-time re-optimization instead of batch runs.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6355080" y="2212848"/>
            <a:ext cx="52578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spc="120">
                <a:solidFill>
                  <a:srgbClr val="44546A"/>
                </a:solidFill>
                <a:latin typeface="Calibri"/>
              </a:rPr>
              <a:t>CURRENT LIMITATIONS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6355080" y="2523744"/>
            <a:ext cx="5257800" cy="2560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Runs on classical simulated annealing — the QUBO is hardware-ready but untested on an actual annealer.</a:t>
            </a:r>
          </a:p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Hackathon scope prioritizes LNG + methanol over hydrogen / ammonia, with fewer benchmark seeds than a production study.</a:t>
            </a:r>
          </a:p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Synthetic training data is physics-calibrated and MRV-aggregate validated, but not yet validated at full fleet scale.</a:t>
            </a:r>
          </a:p>
          <a:p>
            <a:pPr algn="l" marL="155448" indent="-155448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Demo results are pre-computed for reliability; only smaller instances are optimized live.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731520" y="6382512"/>
            <a:ext cx="1069848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1">
                <a:solidFill>
                  <a:srgbClr val="FFFFFF"/>
                </a:solidFill>
                <a:latin typeface="Calibri"/>
              </a:rPr>
              <a:t>What’s next — and what we’re honest about today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